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19"/>
    <p:sldId id="269" r:id="rId20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-7-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ymbio_deck/images/waste_work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2B2C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A2B2C">
              <a:alpha val="8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035040" y="0"/>
            <a:ext cx="640080" cy="6858000"/>
          </a:xfrm>
          <a:prstGeom prst="rect">
            <a:avLst/>
          </a:prstGeom>
          <a:solidFill>
            <a:srgbClr val="0A2B2C">
              <a:alpha val="7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75120" y="0"/>
            <a:ext cx="640080" cy="6858000"/>
          </a:xfrm>
          <a:prstGeom prst="rect">
            <a:avLst/>
          </a:prstGeom>
          <a:solidFill>
            <a:srgbClr val="0A2B2C">
              <a:alpha val="69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315200" y="0"/>
            <a:ext cx="548640" cy="6858000"/>
          </a:xfrm>
          <a:prstGeom prst="rect">
            <a:avLst/>
          </a:prstGeom>
          <a:solidFill>
            <a:srgbClr val="0A2B2C">
              <a:alpha val="63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1430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55448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SymbioLink AI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" y="2560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industrial waste into opportunity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31546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platform that matches industrial waste with the units that need it, before it ever reaches a landfill.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5074920"/>
            <a:ext cx="5852160" cy="914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2578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Chaos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RMD Engineering College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Name: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units, same industrial cluster. 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Metal Works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produces metal shavings every week — sold to a scrap dealer for a fraction of its value, or landfilled. Two streets away,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Ganga Alloy Casting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needs metal shavings every week for its casting line, and pays full price for fresh material. Neither knows the other exists.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clusters generate huge volumes of usable byproducts that could substitute for another nearby unit's raw-material purchase. Most of it is landfilled or sold cheap instead, for three compounding reasons: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6492240" cy="914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4048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877056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loads get skipped.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 pickup truck isn't economical for 30-50kg, so low-volume matches are abandoned even when profitable.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590288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4626864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judge a stranger.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avoid new, unfamiliar counterparts since there's no track record to check before committing.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340096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5376672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adoption friction allowed.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MSME owners won't learn new software — intake has to be as simple as a WhatsApp message.</a:t>
            </a:r>
            <a:endParaRPr lang="en-US" sz="1250" dirty="0"/>
          </a:p>
        </p:txBody>
      </p:sp>
      <p:pic>
        <p:nvPicPr>
          <p:cNvPr id="14" name="Image 0" descr="/tmp/symbio_deck/images/cardboard_was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280160"/>
            <a:ext cx="4297680" cy="42519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0" y="5577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 and mixed packaging waste stockpiled at a recycling facility.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industrial waste exchange happens today — informal, unreliable, and value-destroying: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492240" cy="914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231136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 —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depend entirely on who happens to know who — most usable byproducts never get discovered at all.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191256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dealer resale —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is sold at a fraction of its value to a middleman instead of substituting a purchase another unit would make.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4151376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WhatsApp groups —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structure, no search, no way to verify a stranger before agreeing to a pickup.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5111496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 / incineration —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buyer is found in time, usable material is simply discarded — the default outcome today.</a:t>
            </a:r>
            <a:endParaRPr lang="en-US" sz="1250" dirty="0"/>
          </a:p>
        </p:txBody>
      </p:sp>
      <p:pic>
        <p:nvPicPr>
          <p:cNvPr id="15" name="Image 0" descr="/tmp/symbio_deck/images/scrap_met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188720"/>
            <a:ext cx="4297680" cy="43434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0" y="5577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metal at a yard — one of the same material streams SymbioLink AI could redirect into reuse.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59893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usable byproducts are landfilled or sold cheap, while nearby units keep paying full price for new material.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SymbioLink AI resolves all three root causes at once, with six connected layers: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Listing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arrive via WhatsApp or a voice note. Two trained ML models read the material and whether it's waste or a need — even through typos.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each unit's generation pattern and forecasts upcoming availability before the waste even piles up.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Matching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 — chains exchanges across multiple units (A→B→C) when no single nearby unit can use the waste directly.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Pooling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2402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loads that would normally be skipped get grouped with other nearby pickups into one shared, cheaper transport run.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329184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Verification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36576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exchange is rated by both sides, building a persistent, two-way trust score for judging a stranger.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47091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5074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order lifecycle with real payment processing, a complete audit trail, and automatic CO2-savings reports.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1874520"/>
            <a:ext cx="914" cy="402336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Discovery &amp; Matching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that fits how MSME owners already 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like "220kg metal shavings" typed or spoken over WhatsApp is enough. Two trained scikit-learn models — a TF-IDF material matcher and a logistic-regression waste-vs-need classifier — parse it into a structured listing, even through typos or unusual phrasing. Both fall back to keyword matching automatically if a model isn't trained yet.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577840" cy="914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14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direct match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engine builds a graph of every unit's listings and can chain exchanges across multiple units, ranking every candidate by savings, distance, and the requesting unit's live trust score.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46520" y="1325880"/>
            <a:ext cx="914" cy="484632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MATCH CHAIN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fabric offcuts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66560" y="2715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offcuts into shredded fill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0" y="3950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4818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shredded fill for packaging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66560" y="5623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savings, distance, and trust — every match still shows a plain-English reason, never a black box.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Trust &amp; Transactions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order lifecycle — every stage a real, timestamped, committed transaction: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  →   </a:t>
            </a:r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  →   </a:t>
            </a:r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  →   </a:t>
            </a:r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   →   </a:t>
            </a:r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  →   </a:t>
            </a:r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  →   </a:t>
            </a:r>
            <a:pPr indent="0" marL="0">
              <a:buNone/>
            </a:pPr>
            <a:r>
              <a:rPr lang="en-US" sz="14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914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committed to MySQL and logged to a queryable audit trail — from order placement through Razorpay payment to final two-way rating.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trust ledger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rate every completed exchange. The score is computed live from the trust_ratings table and shown anywhere a unit is judging a stranger: search results, unit profiles, the /trust dashboard.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3429000"/>
            <a:ext cx="914" cy="237744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429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38862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integration handles order creation, verification and refunds — running in demo mode with a simulated fallback until live API keys are added, with zero code changes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3429000"/>
            <a:ext cx="914" cy="237744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429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audit trail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38862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order, status change, and rating is queryable from the admin audit view, plus automatic CO2-savings reports for ESG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from login through the six business-logic modules to MySQL and the external services:</a:t>
            </a:r>
            <a:endParaRPr lang="en-US" sz="1250" dirty="0"/>
          </a:p>
        </p:txBody>
      </p:sp>
      <p:pic>
        <p:nvPicPr>
          <p:cNvPr id="6" name="Image 0" descr="architecture_diagram_v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225" y="1900000"/>
            <a:ext cx="8953070" cy="4638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SymbioLink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675120" cy="41148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2651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SymbioLink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of mouth, local scrap dealers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AI-ranked matches across the whole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loads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 — not worth a solo trip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 with nearby pickups automatically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record of a stranger's reliability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Two-way rating ledger, visible before committing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someone to actively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WhatsApp message or voice 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Informal, no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step logged — real compliance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49808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0" y="164592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realized value for waste, lower raw-material cost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discovery, not one-time matching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emissions from reuse + pooled transport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app-literacy barrier via WhatsApp intake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3520440"/>
            <a:ext cx="4114800" cy="914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40690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prices are estimates, not live market data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Cold-start: needs real listings from a pilot cluster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fully prevent direct off-platform contact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comes from continuous new-match discovery, network-wide pooling, and audit-trail value — not from locking users in.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claim — a working prototype with held-out results: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Intake-classification 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914" cy="105156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691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— match ranking model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914" cy="105156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91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+14.2%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MAE improvement vs. baseline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914" cy="105156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691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/ 120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8972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11064240" cy="914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layers already run end-to-end on a synthetic dataset modeled on real Indian clusters (Muzaffarnagar paper/sugar-mill belt, Mysore mixed-manufacturing).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trained ML models now power intake parsing, forecasting, match ranking, photo-based material classification and order-risk prediction — each falls back to a heuristic automatically if untrained.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+ WhatsApp integrations are already wired in — go live with an API key, zero code changes.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108960"/>
            <a:ext cx="914" cy="320040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5204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 </a:t>
            </a:r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SQLAlchemy 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9410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 </a:t>
            </a:r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(dev/prod) · in-memory SQLite (tests)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3616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 </a:t>
            </a:r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TF-IDF + Logistic Regression + Ridge + RandomForest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7823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Integrations:  </a:t>
            </a:r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· Twilio WhatsApp API · Google Maps API · SMTP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52029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 · Chart.js / vis-network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7190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message hits the Twilio webhook; ML classifiers parse it into a Listing row.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engine ranks candidates by distance, savings and trust — including multi-hop chains.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78561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check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quantities are checked against nearby pickups to pool into one shared, cheaper trip.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99262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34009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places an order — an Order + OrderItem row is written and logged to history.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13716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3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17190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creates the order (real or simulated); verification marks the order paid in MySQL.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257860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3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926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advances confirmed → picked up → delivered → completed, each step logged.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378561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13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update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41330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rate each other — two TrustRating rows update the live trust score.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499262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buNone/>
            </a:pPr>
            <a:r>
              <a:rPr lang="en-US" sz="135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534009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queryable from /admin/audit — a full, real audit trail.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371600"/>
            <a:ext cx="914" cy="4553712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informal, word-of-mouth exchange to a structured, AI-driven system.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SymbioLink AI is built on a real database, real payments, and a real multi-hop matching engine — ready to scale from two companies to an entire industrial cluster.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10881360" cy="914"/>
          </a:xfrm>
          <a:prstGeom prst="line">
            <a:avLst/>
          </a:prstGeom>
          <a:noFill/>
          <a:ln w="12700">
            <a:solidFill>
              <a:srgbClr val="0F3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from waste, cheaper substitute inputs, extra savings from multi-hop matching and pooled transport.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3337560"/>
            <a:ext cx="914" cy="1737360"/>
          </a:xfrm>
          <a:prstGeom prst="line">
            <a:avLst/>
          </a:prstGeom>
          <a:noFill/>
          <a:ln w="12700">
            <a:solidFill>
              <a:srgbClr val="0F3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4840" y="37490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material in circulation instead of landfill — cuts virgin-material extraction and pooled-transport emissions.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3337560"/>
            <a:ext cx="914" cy="1737360"/>
          </a:xfrm>
          <a:prstGeom prst="line">
            <a:avLst/>
          </a:prstGeom>
          <a:noFill/>
          <a:ln w="12700">
            <a:solidFill>
              <a:srgbClr val="0F3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37490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trust ledger builds confidence for owners historically excluded from digital marketplaces.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answer questions or walk through any part of the platform again.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251960"/>
            <a:ext cx="5852160" cy="914"/>
          </a:xfrm>
          <a:prstGeom prst="line">
            <a:avLst/>
          </a:prstGeom>
          <a:noFill/>
          <a:ln w="15875">
            <a:solidFill>
              <a:srgbClr val="0F3D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434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Chaos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SymbioLink AI — Clean &amp; Green Technology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New Since the Last Prototype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real, tested additions since the last review — closing gaps judges and real usage both surfaced: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Intake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photo of the waste pile works too, not just typed text. A trained image classifier reads material family and a rough quantity range from color and texture alone.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Real Listing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or photo simulated as an existing unit posts as a real listing in one click — no re-typing company details already on file.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WhatsApp Alerts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match now reaches a unit the moment it’s found, over WhatsApp — not only as a bell icon someone has to happen to notice.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Ring-Trading Safeguard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2402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“Highly recommended” now requires ratings from more than one counterparty, so two units trading only with each other can't fake a top trust badge.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329184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BRSR-Ready ESG Reports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36576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SEBI BRSR-shaped compliance report per unit from real completed, two-way-rated exchanges — evidence a large buyer can actually audit.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47091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IoT Bin Sensors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5074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bin-fill sensor can auto-generate a listing once a threshold is crossed, so nobody has to remember to post one.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1874520"/>
            <a:ext cx="914" cy="402336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New: Live Map &amp; Secure Sign-In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real, tested additions since the last review — from a unit list to a live map, and from in-app-only alerts to real inbox delivery: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Cluster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983480" cy="3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registered unit now plots on an interactive OpenStreetMap view of the cluster — an actual map, not just a list.</a:t>
            </a:r>
          </a:p>
          <a:p>
            <a:pPr marL="264160" indent="-264160">
              <a:lnSpc>
                <a:spcPct val="130000"/>
              </a:lnSpc>
              <a:spcBef>
                <a:spcPts val="2200"/>
              </a:spcBef>
              <a:buFont typeface="Arial" pitchFamily="34" charset="0"/>
              <a:buChar char="•"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address, or tap "Locate me" to center the map on where you are</a:t>
            </a:r>
          </a:p>
          <a:p>
            <a:pPr marL="264160" indent="-264160">
              <a:lnSpc>
                <a:spcPct val="130000"/>
              </a:lnSpc>
              <a:spcBef>
                <a:spcPts val="1600"/>
              </a:spcBef>
              <a:buFont typeface="Arial" pitchFamily="34" charset="0"/>
              <a:buChar char="•"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walking or driving directions to any unit, via OSRM routing</a:t>
            </a:r>
          </a:p>
          <a:p>
            <a:pPr marL="264160" indent="-264160">
              <a:lnSpc>
                <a:spcPct val="130000"/>
              </a:lnSpc>
              <a:spcBef>
                <a:spcPts val="1600"/>
              </a:spcBef>
              <a:buFont typeface="Arial" pitchFamily="34" charset="0"/>
              <a:buChar char="•"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Nearest-unit list in the side panel — sortable by distance, filterable by material</a:t>
            </a:r>
          </a:p>
          <a:p>
            <a:pPr marL="264160" indent="-264160">
              <a:lnSpc>
                <a:spcPct val="130000"/>
              </a:lnSpc>
              <a:spcBef>
                <a:spcPts val="1600"/>
              </a:spcBef>
              <a:buFont typeface="Arial" pitchFamily="34" charset="0"/>
              <a:buChar char="•"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registrations drop their own pin — a drag-to-place picker, no manual coordinates</a:t>
            </a:r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b="1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&amp; Email Alerts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240280"/>
            <a:ext cx="4983480" cy="3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now supports a passwordless second factor, and every unit gets real email notifications instead of just an in-app bell icon.</a:t>
            </a:r>
          </a:p>
          <a:p>
            <a:pPr marL="264160" indent="-264160">
              <a:lnSpc>
                <a:spcPct val="130000"/>
              </a:lnSpc>
              <a:spcBef>
                <a:spcPts val="2200"/>
              </a:spcBef>
              <a:buFont typeface="Arial" pitchFamily="34" charset="0"/>
              <a:buChar char="•"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6-digit code emailed on request — expires in 10 minutes, works once, five wrong guesses allowed</a:t>
            </a:r>
          </a:p>
          <a:p>
            <a:pPr marL="264160" indent="-264160">
              <a:lnSpc>
                <a:spcPct val="130000"/>
              </a:lnSpc>
              <a:spcBef>
                <a:spcPts val="1600"/>
              </a:spcBef>
              <a:buFont typeface="Arial" pitchFamily="34" charset="0"/>
              <a:buChar char="•"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login alerts, so a sign-in from somewhere unexpected is never silent</a:t>
            </a:r>
          </a:p>
          <a:p>
            <a:pPr marL="264160" indent="-264160">
              <a:lnSpc>
                <a:spcPct val="130000"/>
              </a:lnSpc>
              <a:spcBef>
                <a:spcPts val="1600"/>
              </a:spcBef>
              <a:buFont typeface="Arial" pitchFamily="34" charset="0"/>
              <a:buChar char="•"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New-listing broadcasts reach every matched (and, optionally, every registered) unit by email</a:t>
            </a:r>
          </a:p>
          <a:p>
            <a:pPr marL="264160" indent="-264160">
              <a:lnSpc>
                <a:spcPct val="130000"/>
              </a:lnSpc>
              <a:spcBef>
                <a:spcPts val="1600"/>
              </a:spcBef>
              <a:buFont typeface="Arial" pitchFamily="34" charset="0"/>
              <a:buChar char="•"/>
            </a:pPr>
            <a:r>
              <a:rPr lang="en-US" sz="1250" dirty="0">
                <a:solidFill>
                  <a:srgbClr val="16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HTML templates sent via Gmail SMTP, with a safe console-simulation fallback when unconfigured</a:t>
            </a:r>
          </a:p>
        </p:txBody>
      </p:sp>
      <p:sp>
        <p:nvSpPr>
          <p:cNvPr id="18" name="Shape 16"/>
          <p:cNvSpPr/>
          <p:nvPr/>
        </p:nvSpPr>
        <p:spPr>
          <a:xfrm>
            <a:off x="6035040" y="1874520"/>
            <a:ext cx="914" cy="4165760"/>
          </a:xfrm>
          <a:prstGeom prst="line">
            <a:avLst/>
          </a:prstGeom>
          <a:noFill/>
          <a:ln w="9525">
            <a:solidFill>
              <a:srgbClr val="D8E2D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2026-08-19T04:00:30Z</dcterms:created>
  <dcterms:modified xsi:type="dcterms:W3CDTF">2026-08-19T04:00:30Z</dcterms:modified>
</cp:coreProperties>
</file>