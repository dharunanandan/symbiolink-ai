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Roboto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B90725C-2A29-4354-9731-C1B7886BE92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795299-70B2-417B-8917-7C043D3B25F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9AB066-E2F8-44EA-8534-F0C6928AB5D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355063-5106-4BC2-8F67-5277923CEA9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87A943-76DD-4C11-9B5B-680055B0228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43F642-F97B-4765-8F8A-339592447E0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55F1AB-5788-4D26-93A9-BCCCA9184B1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B8229F-4E61-48F6-9270-B687CF65FBD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60F034-0D75-4F25-B86C-7E99B0B84DF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2191760" cy="78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Shape 1"/>
          <p:cNvSpPr/>
          <p:nvPr/>
        </p:nvSpPr>
        <p:spPr>
          <a:xfrm>
            <a:off x="502920" y="781560"/>
            <a:ext cx="11183040" cy="360"/>
          </a:xfrm>
          <a:prstGeom prst="line">
            <a:avLst/>
          </a:prstGeom>
          <a:ln w="12700">
            <a:solidFill>
              <a:srgbClr val="dde5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Image 0" descr="/mnt/data/foundry_pitch_template_work/assets/foundry_mark.png"/>
          <p:cNvPicPr/>
          <p:nvPr/>
        </p:nvPicPr>
        <p:blipFill>
          <a:blip r:embed="rId2"/>
          <a:stretch/>
        </p:blipFill>
        <p:spPr>
          <a:xfrm>
            <a:off x="511920" y="100440"/>
            <a:ext cx="365400" cy="502560"/>
          </a:xfrm>
          <a:prstGeom prst="rect">
            <a:avLst/>
          </a:prstGeom>
          <a:ln w="0">
            <a:noFill/>
          </a:ln>
        </p:spPr>
      </p:pic>
      <p:sp>
        <p:nvSpPr>
          <p:cNvPr id="3" name="Text 2"/>
          <p:cNvSpPr/>
          <p:nvPr/>
        </p:nvSpPr>
        <p:spPr>
          <a:xfrm>
            <a:off x="987480" y="146160"/>
            <a:ext cx="1682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62a61"/>
                </a:solidFill>
                <a:latin typeface="Inter"/>
                <a:ea typeface="Inter"/>
              </a:rPr>
              <a:t>StudAI Foundry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 3"/>
          <p:cNvSpPr/>
          <p:nvPr/>
        </p:nvSpPr>
        <p:spPr>
          <a:xfrm>
            <a:off x="987480" y="393120"/>
            <a:ext cx="21758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114" strike="noStrike">
                <a:solidFill>
                  <a:srgbClr val="009a4e"/>
                </a:solidFill>
                <a:latin typeface="Inter"/>
                <a:ea typeface="Inter"/>
              </a:rPr>
              <a:t>SEASON 2  ·  CHENNAI EDITION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" name="Image 1" descr="/mnt/data/foundry_pitch_template_work/assets/rit_logo.png"/>
          <p:cNvPicPr/>
          <p:nvPr/>
        </p:nvPicPr>
        <p:blipFill>
          <a:blip r:embed="rId3"/>
          <a:stretch/>
        </p:blipFill>
        <p:spPr>
          <a:xfrm>
            <a:off x="9603000" y="128160"/>
            <a:ext cx="1925280" cy="456840"/>
          </a:xfrm>
          <a:prstGeom prst="rect">
            <a:avLst/>
          </a:prstGeom>
          <a:ln w="0">
            <a:noFill/>
          </a:ln>
        </p:spPr>
      </p:pic>
      <p:sp>
        <p:nvSpPr>
          <p:cNvPr id="6" name="Shape 4"/>
          <p:cNvSpPr/>
          <p:nvPr/>
        </p:nvSpPr>
        <p:spPr>
          <a:xfrm>
            <a:off x="0" y="6446520"/>
            <a:ext cx="121917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6441840"/>
            <a:ext cx="11183040" cy="360"/>
          </a:xfrm>
          <a:prstGeom prst="line">
            <a:avLst/>
          </a:prstGeom>
          <a:ln w="12700">
            <a:solidFill>
              <a:srgbClr val="dde5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" name="Image 2" descr="/mnt/data/foundry_pitch_template_work/assets/studai_one_logo.png"/>
          <p:cNvPicPr/>
          <p:nvPr/>
        </p:nvPicPr>
        <p:blipFill>
          <a:blip r:embed="rId4"/>
          <a:stretch/>
        </p:blipFill>
        <p:spPr>
          <a:xfrm>
            <a:off x="683280" y="6501240"/>
            <a:ext cx="964800" cy="255600"/>
          </a:xfrm>
          <a:prstGeom prst="rect">
            <a:avLst/>
          </a:prstGeom>
          <a:ln w="0">
            <a:noFill/>
          </a:ln>
        </p:spPr>
      </p:pic>
      <p:sp>
        <p:nvSpPr>
          <p:cNvPr id="9" name="Text 6"/>
          <p:cNvSpPr/>
          <p:nvPr/>
        </p:nvSpPr>
        <p:spPr>
          <a:xfrm>
            <a:off x="2084760" y="6528960"/>
            <a:ext cx="57146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" spc="72" strike="noStrike">
                <a:solidFill>
                  <a:srgbClr val="062a61"/>
                </a:solidFill>
                <a:latin typeface="Inter"/>
                <a:ea typeface="Inter"/>
              </a:rPr>
              <a:t>AI FOR SDG GOALS ATTAINMENT   |   DEFINE &gt; DESIGN &gt; PROVE</a:t>
            </a:r>
            <a:endParaRPr b="0" lang="en-US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180720" y="6519600"/>
            <a:ext cx="19929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009a4e"/>
                </a:solidFill>
                <a:latin typeface="Roboto"/>
                <a:ea typeface="Roboto"/>
              </a:rPr>
              <a:t>foundry.studai.one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Roboto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Roboto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Roboto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Roboto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Roboto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Roboto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Roboto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Roboto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Roboto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Roboto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Roboto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Roboto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Roboto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Roboto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Roboto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e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0"/>
          <p:cNvSpPr/>
          <p:nvPr/>
        </p:nvSpPr>
        <p:spPr>
          <a:xfrm>
            <a:off x="0" y="0"/>
            <a:ext cx="12191760" cy="78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 1"/>
          <p:cNvSpPr/>
          <p:nvPr/>
        </p:nvSpPr>
        <p:spPr>
          <a:xfrm>
            <a:off x="502920" y="781560"/>
            <a:ext cx="11183040" cy="360"/>
          </a:xfrm>
          <a:prstGeom prst="line">
            <a:avLst/>
          </a:prstGeom>
          <a:ln w="12700">
            <a:solidFill>
              <a:srgbClr val="dde5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" name="Image 0" descr="/mnt/data/foundry_pitch_template_work/assets/foundry_mark.png"/>
          <p:cNvPicPr/>
          <p:nvPr/>
        </p:nvPicPr>
        <p:blipFill>
          <a:blip r:embed="rId2"/>
          <a:stretch/>
        </p:blipFill>
        <p:spPr>
          <a:xfrm>
            <a:off x="511920" y="100440"/>
            <a:ext cx="365400" cy="502560"/>
          </a:xfrm>
          <a:prstGeom prst="rect">
            <a:avLst/>
          </a:prstGeom>
          <a:ln w="0">
            <a:noFill/>
          </a:ln>
        </p:spPr>
      </p:pic>
      <p:sp>
        <p:nvSpPr>
          <p:cNvPr id="16" name="Text 2"/>
          <p:cNvSpPr/>
          <p:nvPr/>
        </p:nvSpPr>
        <p:spPr>
          <a:xfrm>
            <a:off x="987480" y="146160"/>
            <a:ext cx="1682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62a61"/>
                </a:solidFill>
                <a:latin typeface="Inter"/>
                <a:ea typeface="Inter"/>
              </a:rPr>
              <a:t>StudAI Foundry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987480" y="393120"/>
            <a:ext cx="21758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114" strike="noStrike">
                <a:solidFill>
                  <a:srgbClr val="009a4e"/>
                </a:solidFill>
                <a:latin typeface="Inter"/>
                <a:ea typeface="Inter"/>
              </a:rPr>
              <a:t>SEASON 2  ·  CHENNAI EDITION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" name="Image 1" descr="/mnt/data/foundry_pitch_template_work/assets/rit_logo.png"/>
          <p:cNvPicPr/>
          <p:nvPr/>
        </p:nvPicPr>
        <p:blipFill>
          <a:blip r:embed="rId3"/>
          <a:stretch/>
        </p:blipFill>
        <p:spPr>
          <a:xfrm>
            <a:off x="9603000" y="128160"/>
            <a:ext cx="1925280" cy="456840"/>
          </a:xfrm>
          <a:prstGeom prst="rect">
            <a:avLst/>
          </a:prstGeom>
          <a:ln w="0">
            <a:noFill/>
          </a:ln>
        </p:spPr>
      </p:pic>
      <p:sp>
        <p:nvSpPr>
          <p:cNvPr id="19" name="Shape 4"/>
          <p:cNvSpPr/>
          <p:nvPr/>
        </p:nvSpPr>
        <p:spPr>
          <a:xfrm>
            <a:off x="0" y="6446520"/>
            <a:ext cx="1219176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5"/>
          <p:cNvSpPr/>
          <p:nvPr/>
        </p:nvSpPr>
        <p:spPr>
          <a:xfrm>
            <a:off x="502920" y="6441840"/>
            <a:ext cx="11183040" cy="360"/>
          </a:xfrm>
          <a:prstGeom prst="line">
            <a:avLst/>
          </a:prstGeom>
          <a:ln w="12700">
            <a:solidFill>
              <a:srgbClr val="dde5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" name="Image 2" descr="/mnt/data/foundry_pitch_template_work/assets/studai_one_logo.png"/>
          <p:cNvPicPr/>
          <p:nvPr/>
        </p:nvPicPr>
        <p:blipFill>
          <a:blip r:embed="rId4"/>
          <a:stretch/>
        </p:blipFill>
        <p:spPr>
          <a:xfrm>
            <a:off x="683280" y="6501240"/>
            <a:ext cx="964800" cy="255600"/>
          </a:xfrm>
          <a:prstGeom prst="rect">
            <a:avLst/>
          </a:prstGeom>
          <a:ln w="0">
            <a:noFill/>
          </a:ln>
        </p:spPr>
      </p:pic>
      <p:sp>
        <p:nvSpPr>
          <p:cNvPr id="22" name="Text 6"/>
          <p:cNvSpPr/>
          <p:nvPr/>
        </p:nvSpPr>
        <p:spPr>
          <a:xfrm>
            <a:off x="2084760" y="6528960"/>
            <a:ext cx="57146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" spc="72" strike="noStrike">
                <a:solidFill>
                  <a:srgbClr val="062a61"/>
                </a:solidFill>
                <a:latin typeface="Inter"/>
                <a:ea typeface="Inter"/>
              </a:rPr>
              <a:t>AI FOR SDG GOALS ATTAINMENT   |   DEFINE &gt; DESIGN &gt; PROVE</a:t>
            </a:r>
            <a:endParaRPr b="0" lang="en-US" sz="7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7"/>
          <p:cNvSpPr/>
          <p:nvPr/>
        </p:nvSpPr>
        <p:spPr>
          <a:xfrm>
            <a:off x="9180720" y="6519600"/>
            <a:ext cx="19929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009a4e"/>
                </a:solidFill>
                <a:latin typeface="Roboto"/>
                <a:ea typeface="Roboto"/>
              </a:rPr>
              <a:t>foundry.studai.one</a:t>
            </a:r>
            <a:endParaRPr b="0" lang="en-US" sz="83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8"/>
          <p:cNvSpPr/>
          <p:nvPr/>
        </p:nvSpPr>
        <p:spPr>
          <a:xfrm>
            <a:off x="9235440" y="1188720"/>
            <a:ext cx="2286000" cy="360"/>
          </a:xfrm>
          <a:prstGeom prst="line">
            <a:avLst/>
          </a:prstGeom>
          <a:ln w="12700">
            <a:solidFill>
              <a:srgbClr val="009a4e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9"/>
          <p:cNvSpPr/>
          <p:nvPr/>
        </p:nvSpPr>
        <p:spPr>
          <a:xfrm>
            <a:off x="8915400" y="1536120"/>
            <a:ext cx="2926080" cy="360"/>
          </a:xfrm>
          <a:prstGeom prst="line">
            <a:avLst/>
          </a:prstGeom>
          <a:ln w="12700">
            <a:solidFill>
              <a:srgbClr val="2b5484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Roboto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Roboto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Roboto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Roboto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Roboto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Roboto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Roboto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Roboto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Roboto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Roboto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Roboto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Roboto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Roboto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Roboto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Roboto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/>
          <p:cNvSpPr/>
          <p:nvPr/>
        </p:nvSpPr>
        <p:spPr>
          <a:xfrm>
            <a:off x="10561320" y="6117480"/>
            <a:ext cx="1051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b8cae0"/>
                </a:solidFill>
                <a:latin typeface="Inter"/>
                <a:ea typeface="Inter"/>
              </a:rPr>
              <a:t>01 / 08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1"/>
          <p:cNvSpPr/>
          <p:nvPr/>
        </p:nvSpPr>
        <p:spPr>
          <a:xfrm>
            <a:off x="781812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6" name="Shape 2"/>
          <p:cNvSpPr/>
          <p:nvPr/>
        </p:nvSpPr>
        <p:spPr>
          <a:xfrm>
            <a:off x="815652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7" name="Shape 3"/>
          <p:cNvSpPr/>
          <p:nvPr/>
        </p:nvSpPr>
        <p:spPr>
          <a:xfrm>
            <a:off x="849492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8" name="Shape 4"/>
          <p:cNvSpPr/>
          <p:nvPr/>
        </p:nvSpPr>
        <p:spPr>
          <a:xfrm>
            <a:off x="883296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9" name="Shape 5"/>
          <p:cNvSpPr/>
          <p:nvPr/>
        </p:nvSpPr>
        <p:spPr>
          <a:xfrm>
            <a:off x="917136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40" name="Shape 6"/>
          <p:cNvSpPr/>
          <p:nvPr/>
        </p:nvSpPr>
        <p:spPr>
          <a:xfrm>
            <a:off x="950976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41" name="Shape 7"/>
          <p:cNvSpPr/>
          <p:nvPr/>
        </p:nvSpPr>
        <p:spPr>
          <a:xfrm>
            <a:off x="984816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42" name="Shape 8"/>
          <p:cNvSpPr/>
          <p:nvPr/>
        </p:nvSpPr>
        <p:spPr>
          <a:xfrm>
            <a:off x="1018656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43" name="Shape 9"/>
          <p:cNvSpPr/>
          <p:nvPr/>
        </p:nvSpPr>
        <p:spPr>
          <a:xfrm>
            <a:off x="658440" y="1078920"/>
            <a:ext cx="2239920" cy="255600"/>
          </a:xfrm>
          <a:prstGeom prst="roundRect">
            <a:avLst>
              <a:gd name="adj" fmla="val 50000"/>
            </a:avLst>
          </a:prstGeom>
          <a:solidFill>
            <a:srgbClr val="143a70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44" name="Text 10"/>
          <p:cNvSpPr/>
          <p:nvPr/>
        </p:nvSpPr>
        <p:spPr>
          <a:xfrm>
            <a:off x="749880" y="1120320"/>
            <a:ext cx="20570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77" strike="noStrike">
                <a:solidFill>
                  <a:srgbClr val="ffffff"/>
                </a:solidFill>
                <a:latin typeface="Inter"/>
                <a:ea typeface="Inter"/>
              </a:rPr>
              <a:t>OFFICIAL PROJECT PITCH TEMPLATE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11"/>
          <p:cNvSpPr/>
          <p:nvPr/>
        </p:nvSpPr>
        <p:spPr>
          <a:xfrm>
            <a:off x="658440" y="1536120"/>
            <a:ext cx="653760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Inter"/>
                <a:ea typeface="Inter"/>
              </a:rPr>
              <a:t>SymbioLink AI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12"/>
          <p:cNvSpPr/>
          <p:nvPr/>
        </p:nvSpPr>
        <p:spPr>
          <a:xfrm>
            <a:off x="676800" y="2468880"/>
            <a:ext cx="62632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c9d9ea"/>
                </a:solidFill>
                <a:latin typeface="Roboto"/>
                <a:ea typeface="Roboto"/>
              </a:rPr>
              <a:t>A digital industrial-symbiosis platform that turns one factory's waste into another factory's cheap raw material.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13"/>
          <p:cNvSpPr/>
          <p:nvPr/>
        </p:nvSpPr>
        <p:spPr>
          <a:xfrm>
            <a:off x="658440" y="3310200"/>
            <a:ext cx="6171840" cy="987120"/>
          </a:xfrm>
          <a:prstGeom prst="roundRect">
            <a:avLst>
              <a:gd name="adj" fmla="val 13889"/>
            </a:avLst>
          </a:prstGeom>
          <a:solidFill>
            <a:srgbClr val="113f77"/>
          </a:solidFill>
          <a:ln w="12700">
            <a:solidFill>
              <a:srgbClr val="315f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48" name="Text 14"/>
          <p:cNvSpPr/>
          <p:nvPr/>
        </p:nvSpPr>
        <p:spPr>
          <a:xfrm>
            <a:off x="896040" y="3474720"/>
            <a:ext cx="5696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Inter"/>
                <a:ea typeface="Inter"/>
              </a:rPr>
              <a:t>PROJECT SNAPSHOT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15"/>
          <p:cNvSpPr/>
          <p:nvPr/>
        </p:nvSpPr>
        <p:spPr>
          <a:xfrm>
            <a:off x="896040" y="3822120"/>
            <a:ext cx="5696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5e2f0"/>
                </a:solidFill>
                <a:latin typeface="Roboto"/>
                <a:ea typeface="Roboto"/>
              </a:rPr>
              <a:t>SDG 12 · Responsible Consumption   •   MSME owners in industrial clusters   •   Working prototype (Flask + MySQL, 3 trained ML models)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16"/>
          <p:cNvSpPr/>
          <p:nvPr/>
        </p:nvSpPr>
        <p:spPr>
          <a:xfrm>
            <a:off x="676800" y="4590360"/>
            <a:ext cx="731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17" strike="noStrike">
                <a:solidFill>
                  <a:srgbClr val="009a4e"/>
                </a:solidFill>
                <a:latin typeface="Inter"/>
                <a:ea typeface="Inter"/>
              </a:rPr>
              <a:t>TEAM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17"/>
          <p:cNvSpPr/>
          <p:nvPr/>
        </p:nvSpPr>
        <p:spPr>
          <a:xfrm>
            <a:off x="676800" y="4883040"/>
            <a:ext cx="4891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Inter"/>
                <a:ea typeface="Inter"/>
              </a:rPr>
              <a:t>Team Chaos  |  R.M.D Engineering College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18"/>
          <p:cNvSpPr/>
          <p:nvPr/>
        </p:nvSpPr>
        <p:spPr>
          <a:xfrm>
            <a:off x="676800" y="528516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bfd0e5"/>
                </a:solidFill>
                <a:latin typeface="Roboto"/>
                <a:ea typeface="Roboto"/>
              </a:rPr>
              <a:t>Vishwa R  •  Vineeth A  •  Naveen A M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19"/>
          <p:cNvSpPr/>
          <p:nvPr/>
        </p:nvSpPr>
        <p:spPr>
          <a:xfrm>
            <a:off x="7662600" y="1280160"/>
            <a:ext cx="3748680" cy="4461840"/>
          </a:xfrm>
          <a:prstGeom prst="roundRect">
            <a:avLst>
              <a:gd name="adj" fmla="val 4390"/>
            </a:avLst>
          </a:prstGeom>
          <a:solidFill>
            <a:srgbClr val="0e3569"/>
          </a:solidFill>
          <a:ln w="17780">
            <a:solidFill>
              <a:srgbClr val="4c6f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54" name="Text 20"/>
          <p:cNvSpPr/>
          <p:nvPr/>
        </p:nvSpPr>
        <p:spPr>
          <a:xfrm>
            <a:off x="8046720" y="2743200"/>
            <a:ext cx="29714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93adcb"/>
                </a:solidFill>
                <a:latin typeface="Inter"/>
                <a:ea typeface="Inter"/>
              </a:rPr>
              <a:t>DROP YOUR BEST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93adcb"/>
                </a:solidFill>
                <a:latin typeface="Inter"/>
                <a:ea typeface="Inter"/>
              </a:rPr>
              <a:t>PROJECT VISUAL HERE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21"/>
          <p:cNvSpPr/>
          <p:nvPr/>
        </p:nvSpPr>
        <p:spPr>
          <a:xfrm>
            <a:off x="8119800" y="3639240"/>
            <a:ext cx="2815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7392b5"/>
                </a:solidFill>
                <a:latin typeface="Roboto"/>
                <a:ea typeface="Roboto"/>
              </a:rPr>
              <a:t>Product screen, prototype, photo or concept visual</a:t>
            </a:r>
            <a:endParaRPr b="0" lang="en-US" sz="93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Shape 22"/>
          <p:cNvSpPr/>
          <p:nvPr/>
        </p:nvSpPr>
        <p:spPr>
          <a:xfrm>
            <a:off x="8092440" y="4224240"/>
            <a:ext cx="2788920" cy="360"/>
          </a:xfrm>
          <a:prstGeom prst="line">
            <a:avLst/>
          </a:prstGeom>
          <a:ln w="25400">
            <a:solidFill>
              <a:srgbClr val="009a4e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10561320" y="6117480"/>
            <a:ext cx="1051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5e6c84"/>
                </a:solidFill>
                <a:latin typeface="Inter"/>
                <a:ea typeface="Inter"/>
              </a:rPr>
              <a:t>02 / 08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1"/>
          <p:cNvSpPr/>
          <p:nvPr/>
        </p:nvSpPr>
        <p:spPr>
          <a:xfrm>
            <a:off x="781812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59" name="Shape 2"/>
          <p:cNvSpPr/>
          <p:nvPr/>
        </p:nvSpPr>
        <p:spPr>
          <a:xfrm>
            <a:off x="815652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60" name="Shape 3"/>
          <p:cNvSpPr/>
          <p:nvPr/>
        </p:nvSpPr>
        <p:spPr>
          <a:xfrm>
            <a:off x="849492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61" name="Shape 4"/>
          <p:cNvSpPr/>
          <p:nvPr/>
        </p:nvSpPr>
        <p:spPr>
          <a:xfrm>
            <a:off x="883296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62" name="Shape 5"/>
          <p:cNvSpPr/>
          <p:nvPr/>
        </p:nvSpPr>
        <p:spPr>
          <a:xfrm>
            <a:off x="917136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63" name="Shape 6"/>
          <p:cNvSpPr/>
          <p:nvPr/>
        </p:nvSpPr>
        <p:spPr>
          <a:xfrm>
            <a:off x="950976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64" name="Shape 7"/>
          <p:cNvSpPr/>
          <p:nvPr/>
        </p:nvSpPr>
        <p:spPr>
          <a:xfrm>
            <a:off x="984816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65" name="Shape 8"/>
          <p:cNvSpPr/>
          <p:nvPr/>
        </p:nvSpPr>
        <p:spPr>
          <a:xfrm>
            <a:off x="1018656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66" name="Text 9"/>
          <p:cNvSpPr/>
          <p:nvPr/>
        </p:nvSpPr>
        <p:spPr>
          <a:xfrm>
            <a:off x="621720" y="987480"/>
            <a:ext cx="4752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9a4e"/>
                </a:solidFill>
                <a:latin typeface="Inter"/>
                <a:ea typeface="Inter"/>
              </a:rPr>
              <a:t>02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0"/>
          <p:cNvSpPr/>
          <p:nvPr/>
        </p:nvSpPr>
        <p:spPr>
          <a:xfrm>
            <a:off x="1124640" y="1152000"/>
            <a:ext cx="475560" cy="360"/>
          </a:xfrm>
          <a:prstGeom prst="line">
            <a:avLst/>
          </a:prstGeom>
          <a:ln w="25400">
            <a:solidFill>
              <a:srgbClr val="009a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68" name="Text 11"/>
          <p:cNvSpPr/>
          <p:nvPr/>
        </p:nvSpPr>
        <p:spPr>
          <a:xfrm>
            <a:off x="1691640" y="97848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128" strike="noStrike">
                <a:solidFill>
                  <a:srgbClr val="009a4e"/>
                </a:solidFill>
                <a:latin typeface="Inter"/>
                <a:ea typeface="Inter"/>
              </a:rPr>
              <a:t>DEFINE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12"/>
          <p:cNvSpPr/>
          <p:nvPr/>
        </p:nvSpPr>
        <p:spPr>
          <a:xfrm>
            <a:off x="621720" y="1307520"/>
            <a:ext cx="81835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0b2147"/>
                </a:solidFill>
                <a:latin typeface="Inter"/>
                <a:ea typeface="Inter"/>
              </a:rPr>
              <a:t>The problem worth solving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13"/>
          <p:cNvSpPr/>
          <p:nvPr/>
        </p:nvSpPr>
        <p:spPr>
          <a:xfrm>
            <a:off x="640080" y="1892880"/>
            <a:ext cx="8960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e6c84"/>
                </a:solidFill>
                <a:latin typeface="Roboto"/>
                <a:ea typeface="Roboto"/>
              </a:rPr>
              <a:t>Make the problem specific, evidence-based and human - not just a broad topic.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4"/>
          <p:cNvSpPr/>
          <p:nvPr/>
        </p:nvSpPr>
        <p:spPr>
          <a:xfrm>
            <a:off x="640080" y="2450520"/>
            <a:ext cx="5211720" cy="137124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72" name="Shape 15"/>
          <p:cNvSpPr/>
          <p:nvPr/>
        </p:nvSpPr>
        <p:spPr>
          <a:xfrm>
            <a:off x="841320" y="2633400"/>
            <a:ext cx="328680" cy="32868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73" name="Text 16"/>
          <p:cNvSpPr/>
          <p:nvPr/>
        </p:nvSpPr>
        <p:spPr>
          <a:xfrm>
            <a:off x="841320" y="2674800"/>
            <a:ext cx="32868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Inter"/>
                <a:ea typeface="Inter"/>
              </a:rPr>
              <a:t>!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17"/>
          <p:cNvSpPr/>
          <p:nvPr/>
        </p:nvSpPr>
        <p:spPr>
          <a:xfrm>
            <a:off x="1280160" y="2615040"/>
            <a:ext cx="4388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2147"/>
                </a:solidFill>
                <a:latin typeface="Inter"/>
                <a:ea typeface="Inter"/>
              </a:rPr>
              <a:t>PROBLEM IN ONE SENTENCE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18"/>
          <p:cNvSpPr/>
          <p:nvPr/>
        </p:nvSpPr>
        <p:spPr>
          <a:xfrm>
            <a:off x="841320" y="3090600"/>
            <a:ext cx="4809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e6c84"/>
                </a:solidFill>
                <a:latin typeface="Roboto"/>
                <a:ea typeface="Roboto"/>
              </a:rPr>
              <a:t>MSME owners inside a shared industrial cluster struggle to find buyers for their factory waste because no digital system exists to discover, verify and act on cross-unit matches, resulting in usable material going to landfill while nearby units pay full price for the same raw material.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19"/>
          <p:cNvSpPr/>
          <p:nvPr/>
        </p:nvSpPr>
        <p:spPr>
          <a:xfrm>
            <a:off x="640080" y="4041720"/>
            <a:ext cx="2486880" cy="1398600"/>
          </a:xfrm>
          <a:prstGeom prst="roundRect">
            <a:avLst>
              <a:gd name="adj" fmla="val 9150"/>
            </a:avLst>
          </a:prstGeom>
          <a:solidFill>
            <a:srgbClr val="ffffff"/>
          </a:solidFill>
          <a:ln w="127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77" name="Shape 20"/>
          <p:cNvSpPr/>
          <p:nvPr/>
        </p:nvSpPr>
        <p:spPr>
          <a:xfrm>
            <a:off x="841320" y="4224600"/>
            <a:ext cx="328680" cy="328680"/>
          </a:xfrm>
          <a:prstGeom prst="ellipse">
            <a:avLst/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78" name="Text 21"/>
          <p:cNvSpPr/>
          <p:nvPr/>
        </p:nvSpPr>
        <p:spPr>
          <a:xfrm>
            <a:off x="841320" y="4265640"/>
            <a:ext cx="32868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Inter"/>
                <a:ea typeface="Inter"/>
              </a:rPr>
              <a:t>U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22"/>
          <p:cNvSpPr/>
          <p:nvPr/>
        </p:nvSpPr>
        <p:spPr>
          <a:xfrm>
            <a:off x="1280160" y="4206240"/>
            <a:ext cx="1663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2147"/>
                </a:solidFill>
                <a:latin typeface="Inter"/>
                <a:ea typeface="Inter"/>
              </a:rPr>
              <a:t>WHO FEELS IT?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23"/>
          <p:cNvSpPr/>
          <p:nvPr/>
        </p:nvSpPr>
        <p:spPr>
          <a:xfrm>
            <a:off x="841320" y="4681800"/>
            <a:ext cx="2084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 fontScale="75000" lnSpcReduction="1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e6c84"/>
                </a:solidFill>
                <a:latin typeface="Roboto"/>
                <a:ea typeface="Roboto"/>
              </a:rPr>
              <a:t>MSME owners in manufacturing clusters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e6c84"/>
                </a:solidFill>
                <a:latin typeface="Roboto"/>
                <a:ea typeface="Roboto"/>
              </a:rPr>
              <a:t>Shared industrial clusters (e.g. Muzaffarnagar paper/sugar-mill belt, Mysore mixed-manufacturing)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e6c84"/>
                </a:solidFill>
                <a:latin typeface="Roboto"/>
                <a:ea typeface="Roboto"/>
              </a:rPr>
              <a:t>Every time a waste stream is generated with no ready buyer nearby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24"/>
          <p:cNvSpPr/>
          <p:nvPr/>
        </p:nvSpPr>
        <p:spPr>
          <a:xfrm>
            <a:off x="3364920" y="4041720"/>
            <a:ext cx="2486880" cy="1398600"/>
          </a:xfrm>
          <a:prstGeom prst="roundRect">
            <a:avLst>
              <a:gd name="adj" fmla="val 9150"/>
            </a:avLst>
          </a:prstGeom>
          <a:solidFill>
            <a:srgbClr val="ffffff"/>
          </a:solidFill>
          <a:ln w="127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82" name="Shape 25"/>
          <p:cNvSpPr/>
          <p:nvPr/>
        </p:nvSpPr>
        <p:spPr>
          <a:xfrm>
            <a:off x="3566160" y="4224600"/>
            <a:ext cx="328680" cy="328680"/>
          </a:xfrm>
          <a:prstGeom prst="ellipse">
            <a:avLst/>
          </a:prstGeom>
          <a:solidFill>
            <a:srgbClr val="f4a62a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83" name="Text 26"/>
          <p:cNvSpPr/>
          <p:nvPr/>
        </p:nvSpPr>
        <p:spPr>
          <a:xfrm>
            <a:off x="3566160" y="4265640"/>
            <a:ext cx="32868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Inter"/>
                <a:ea typeface="Inter"/>
              </a:rPr>
              <a:t>N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27"/>
          <p:cNvSpPr/>
          <p:nvPr/>
        </p:nvSpPr>
        <p:spPr>
          <a:xfrm>
            <a:off x="4005000" y="4206240"/>
            <a:ext cx="1663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2147"/>
                </a:solidFill>
                <a:latin typeface="Inter"/>
                <a:ea typeface="Inter"/>
              </a:rPr>
              <a:t>WHY NOW?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28"/>
          <p:cNvSpPr/>
          <p:nvPr/>
        </p:nvSpPr>
        <p:spPr>
          <a:xfrm>
            <a:off x="3566160" y="4681800"/>
            <a:ext cx="2084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 fontScale="75000" lnSpcReduction="1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e6c84"/>
                </a:solidFill>
                <a:latin typeface="Roboto"/>
                <a:ea typeface="Roboto"/>
              </a:rPr>
              <a:t>Rising ESG/BRSR pressure pushes MSMEs toward provable waste cuts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e6c84"/>
                </a:solidFill>
                <a:latin typeface="Roboto"/>
                <a:ea typeface="Roboto"/>
              </a:rPr>
              <a:t>SEBI BRSR reporting and carbon-credit markets maturing nationally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e6c84"/>
                </a:solidFill>
                <a:latin typeface="Roboto"/>
                <a:ea typeface="Roboto"/>
              </a:rPr>
              <a:t>Matching still runs on personal networks, not a searchable system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29"/>
          <p:cNvSpPr/>
          <p:nvPr/>
        </p:nvSpPr>
        <p:spPr>
          <a:xfrm>
            <a:off x="6199560" y="2450520"/>
            <a:ext cx="5321520" cy="2989800"/>
          </a:xfrm>
          <a:prstGeom prst="roundRect">
            <a:avLst>
              <a:gd name="adj" fmla="val 4893"/>
            </a:avLst>
          </a:prstGeom>
          <a:solidFill>
            <a:srgbClr val="ffffff"/>
          </a:solidFill>
          <a:ln w="12700">
            <a:solidFill>
              <a:srgbClr val="d9e4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87" name="Shape 30"/>
          <p:cNvSpPr/>
          <p:nvPr/>
        </p:nvSpPr>
        <p:spPr>
          <a:xfrm>
            <a:off x="6473880" y="2688480"/>
            <a:ext cx="932400" cy="255600"/>
          </a:xfrm>
          <a:prstGeom prst="roundRect">
            <a:avLst>
              <a:gd name="adj" fmla="val 50000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88" name="Text 31"/>
          <p:cNvSpPr/>
          <p:nvPr/>
        </p:nvSpPr>
        <p:spPr>
          <a:xfrm>
            <a:off x="6565320" y="2729520"/>
            <a:ext cx="7495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77" strike="noStrike">
                <a:solidFill>
                  <a:srgbClr val="ffffff"/>
                </a:solidFill>
                <a:latin typeface="Inter"/>
                <a:ea typeface="Inter"/>
              </a:rPr>
              <a:t>EVIDENCE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32"/>
          <p:cNvSpPr/>
          <p:nvPr/>
        </p:nvSpPr>
        <p:spPr>
          <a:xfrm>
            <a:off x="6473880" y="3200400"/>
            <a:ext cx="4132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7222" lnSpcReduction="2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62a61"/>
                </a:solidFill>
                <a:latin typeface="Inter"/>
                <a:ea typeface="Inter"/>
              </a:rPr>
              <a:t>11 exchanges / 60+ facilities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33"/>
          <p:cNvSpPr/>
          <p:nvPr/>
        </p:nvSpPr>
        <p:spPr>
          <a:xfrm>
            <a:off x="6473880" y="3931920"/>
            <a:ext cx="42516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7222" lnSpcReduction="2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e6c84"/>
                </a:solidFill>
                <a:latin typeface="Roboto"/>
                <a:ea typeface="Roboto"/>
              </a:rPr>
              <a:t>A Nanjangud (Mysore-area) cluster study of 42 facilities found 99.5% on-site waste recovery but only 11 verified inter-firm exchanges across 60+ facilities - recovery is high, formal cross-unit exchange is nearly absent.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34"/>
          <p:cNvSpPr/>
          <p:nvPr/>
        </p:nvSpPr>
        <p:spPr>
          <a:xfrm>
            <a:off x="6473880" y="4699800"/>
            <a:ext cx="4316040" cy="360"/>
          </a:xfrm>
          <a:prstGeom prst="line">
            <a:avLst/>
          </a:prstGeom>
          <a:ln w="12700">
            <a:solidFill>
              <a:srgbClr val="dce5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92" name="Text 35"/>
          <p:cNvSpPr/>
          <p:nvPr/>
        </p:nvSpPr>
        <p:spPr>
          <a:xfrm>
            <a:off x="6473880" y="4901040"/>
            <a:ext cx="1389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77" strike="noStrike">
                <a:solidFill>
                  <a:srgbClr val="009a4e"/>
                </a:solidFill>
                <a:latin typeface="Inter"/>
                <a:ea typeface="Inter"/>
              </a:rPr>
              <a:t>SOURCE / VALIDATION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36"/>
          <p:cNvSpPr/>
          <p:nvPr/>
        </p:nvSpPr>
        <p:spPr>
          <a:xfrm>
            <a:off x="7973640" y="4873680"/>
            <a:ext cx="2815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7222" lnSpcReduction="1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pc="-1" strike="noStrike">
                <a:solidFill>
                  <a:srgbClr val="0b2147"/>
                </a:solidFill>
                <a:latin typeface="Roboto"/>
                <a:ea typeface="Roboto"/>
              </a:rPr>
              <a:t>Nanjangud Industrial Area study, ScienceDirect / academia.edu (2010)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/>
          <p:nvPr/>
        </p:nvSpPr>
        <p:spPr>
          <a:xfrm>
            <a:off x="10561320" y="6117480"/>
            <a:ext cx="1051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5e6c84"/>
                </a:solidFill>
                <a:latin typeface="Inter"/>
                <a:ea typeface="Inter"/>
              </a:rPr>
              <a:t>03 / 08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1"/>
          <p:cNvSpPr/>
          <p:nvPr/>
        </p:nvSpPr>
        <p:spPr>
          <a:xfrm>
            <a:off x="781812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96" name="Shape 2"/>
          <p:cNvSpPr/>
          <p:nvPr/>
        </p:nvSpPr>
        <p:spPr>
          <a:xfrm>
            <a:off x="815652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97" name="Shape 3"/>
          <p:cNvSpPr/>
          <p:nvPr/>
        </p:nvSpPr>
        <p:spPr>
          <a:xfrm>
            <a:off x="849492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98" name="Shape 4"/>
          <p:cNvSpPr/>
          <p:nvPr/>
        </p:nvSpPr>
        <p:spPr>
          <a:xfrm>
            <a:off x="883296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99" name="Shape 5"/>
          <p:cNvSpPr/>
          <p:nvPr/>
        </p:nvSpPr>
        <p:spPr>
          <a:xfrm>
            <a:off x="917136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00" name="Shape 6"/>
          <p:cNvSpPr/>
          <p:nvPr/>
        </p:nvSpPr>
        <p:spPr>
          <a:xfrm>
            <a:off x="950976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01" name="Shape 7"/>
          <p:cNvSpPr/>
          <p:nvPr/>
        </p:nvSpPr>
        <p:spPr>
          <a:xfrm>
            <a:off x="984816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02" name="Shape 8"/>
          <p:cNvSpPr/>
          <p:nvPr/>
        </p:nvSpPr>
        <p:spPr>
          <a:xfrm>
            <a:off x="1018656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03" name="Text 9"/>
          <p:cNvSpPr/>
          <p:nvPr/>
        </p:nvSpPr>
        <p:spPr>
          <a:xfrm>
            <a:off x="621720" y="987480"/>
            <a:ext cx="4752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9a4e"/>
                </a:solidFill>
                <a:latin typeface="Inter"/>
                <a:ea typeface="Inter"/>
              </a:rPr>
              <a:t>03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10"/>
          <p:cNvSpPr/>
          <p:nvPr/>
        </p:nvSpPr>
        <p:spPr>
          <a:xfrm>
            <a:off x="1124640" y="1152000"/>
            <a:ext cx="475560" cy="360"/>
          </a:xfrm>
          <a:prstGeom prst="line">
            <a:avLst/>
          </a:prstGeom>
          <a:ln w="25400">
            <a:solidFill>
              <a:srgbClr val="009a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05" name="Text 11"/>
          <p:cNvSpPr/>
          <p:nvPr/>
        </p:nvSpPr>
        <p:spPr>
          <a:xfrm>
            <a:off x="1691640" y="97848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128" strike="noStrike">
                <a:solidFill>
                  <a:srgbClr val="009a4e"/>
                </a:solidFill>
                <a:latin typeface="Inter"/>
                <a:ea typeface="Inter"/>
              </a:rPr>
              <a:t>DEFINE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12"/>
          <p:cNvSpPr/>
          <p:nvPr/>
        </p:nvSpPr>
        <p:spPr>
          <a:xfrm>
            <a:off x="621720" y="1307520"/>
            <a:ext cx="81835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0b2147"/>
                </a:solidFill>
                <a:latin typeface="Inter"/>
                <a:ea typeface="Inter"/>
              </a:rPr>
              <a:t>User insight + SDG alignment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13"/>
          <p:cNvSpPr/>
          <p:nvPr/>
        </p:nvSpPr>
        <p:spPr>
          <a:xfrm>
            <a:off x="640080" y="1892880"/>
            <a:ext cx="8960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e6c84"/>
                </a:solidFill>
                <a:latin typeface="Roboto"/>
                <a:ea typeface="Roboto"/>
              </a:rPr>
              <a:t>Show that you understand the person behind the problem and the sustainable outcome you are targeting.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14"/>
          <p:cNvSpPr/>
          <p:nvPr/>
        </p:nvSpPr>
        <p:spPr>
          <a:xfrm>
            <a:off x="640080" y="2468880"/>
            <a:ext cx="3794400" cy="303552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d9e4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09" name="Shape 15"/>
          <p:cNvSpPr/>
          <p:nvPr/>
        </p:nvSpPr>
        <p:spPr>
          <a:xfrm>
            <a:off x="896040" y="2706480"/>
            <a:ext cx="1142640" cy="255600"/>
          </a:xfrm>
          <a:prstGeom prst="roundRect">
            <a:avLst>
              <a:gd name="adj" fmla="val 50000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10" name="Text 16"/>
          <p:cNvSpPr/>
          <p:nvPr/>
        </p:nvSpPr>
        <p:spPr>
          <a:xfrm>
            <a:off x="987480" y="2747880"/>
            <a:ext cx="9597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77" strike="noStrike">
                <a:solidFill>
                  <a:srgbClr val="ffffff"/>
                </a:solidFill>
                <a:latin typeface="Inter"/>
                <a:ea typeface="Inter"/>
              </a:rPr>
              <a:t>PRIMARY USER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17"/>
          <p:cNvSpPr/>
          <p:nvPr/>
        </p:nvSpPr>
        <p:spPr>
          <a:xfrm>
            <a:off x="896040" y="3182040"/>
            <a:ext cx="712800" cy="712800"/>
          </a:xfrm>
          <a:prstGeom prst="ellipse">
            <a:avLst/>
          </a:prstGeom>
          <a:solidFill>
            <a:srgbClr val="eaf8f1"/>
          </a:solidFill>
          <a:ln w="12700">
            <a:solidFill>
              <a:srgbClr val="c9e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12" name="Text 18"/>
          <p:cNvSpPr/>
          <p:nvPr/>
        </p:nvSpPr>
        <p:spPr>
          <a:xfrm>
            <a:off x="987480" y="3447360"/>
            <a:ext cx="5299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09a4e"/>
                </a:solidFill>
                <a:latin typeface="Inter"/>
                <a:ea typeface="Inter"/>
              </a:rPr>
              <a:t>USER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19"/>
          <p:cNvSpPr/>
          <p:nvPr/>
        </p:nvSpPr>
        <p:spPr>
          <a:xfrm>
            <a:off x="1774080" y="3163680"/>
            <a:ext cx="2239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3333" lnSpcReduction="2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b2147"/>
                </a:solidFill>
                <a:latin typeface="Inter"/>
                <a:ea typeface="Inter"/>
              </a:rPr>
              <a:t>Ramesh, MSME unit owner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20"/>
          <p:cNvSpPr/>
          <p:nvPr/>
        </p:nvSpPr>
        <p:spPr>
          <a:xfrm>
            <a:off x="1774080" y="3529440"/>
            <a:ext cx="2239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e6c84"/>
                </a:solidFill>
                <a:latin typeface="Roboto"/>
                <a:ea typeface="Roboto"/>
              </a:rPr>
              <a:t>Mid-size manufacturing unit inside a shared industrial cluster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21"/>
          <p:cNvSpPr/>
          <p:nvPr/>
        </p:nvSpPr>
        <p:spPr>
          <a:xfrm>
            <a:off x="896040" y="4206240"/>
            <a:ext cx="1096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69" strike="noStrike">
                <a:solidFill>
                  <a:srgbClr val="009a4e"/>
                </a:solidFill>
                <a:latin typeface="Inter"/>
                <a:ea typeface="Inter"/>
              </a:rPr>
              <a:t>JOB TO BE DONE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22"/>
          <p:cNvSpPr/>
          <p:nvPr/>
        </p:nvSpPr>
        <p:spPr>
          <a:xfrm>
            <a:off x="896040" y="4507920"/>
            <a:ext cx="3062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5000" lnSpcReduction="1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40" spc="-1" strike="noStrike">
                <a:solidFill>
                  <a:srgbClr val="0b2147"/>
                </a:solidFill>
                <a:latin typeface="Roboto"/>
                <a:ea typeface="Roboto"/>
              </a:rPr>
              <a:t>“</a:t>
            </a:r>
            <a:r>
              <a:rPr b="0" i="1" lang="en-US" sz="1140" spc="-1" strike="noStrike">
                <a:solidFill>
                  <a:srgbClr val="0b2147"/>
                </a:solidFill>
                <a:latin typeface="Roboto"/>
                <a:ea typeface="Roboto"/>
              </a:rPr>
              <a:t>When my unit generates offcut or byproduct waste, I need to find a nearby unit that can use it as raw material, so I can cut disposal cost and earn from what would otherwise be trash.”</a:t>
            </a:r>
            <a:endParaRPr b="0" lang="en-US" sz="11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23"/>
          <p:cNvSpPr/>
          <p:nvPr/>
        </p:nvSpPr>
        <p:spPr>
          <a:xfrm>
            <a:off x="896040" y="5056560"/>
            <a:ext cx="1352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69" strike="noStrike">
                <a:solidFill>
                  <a:srgbClr val="009a4e"/>
                </a:solidFill>
                <a:latin typeface="Inter"/>
                <a:ea typeface="Inter"/>
              </a:rPr>
              <a:t>CURRENT WORKAROUND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24"/>
          <p:cNvSpPr/>
          <p:nvPr/>
        </p:nvSpPr>
        <p:spPr>
          <a:xfrm>
            <a:off x="2331720" y="5020200"/>
            <a:ext cx="20494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6666" lnSpcReduction="2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5e6c84"/>
                </a:solidFill>
                <a:latin typeface="Roboto"/>
                <a:ea typeface="Roboto"/>
              </a:rPr>
              <a:t>Relies on personal contacts and word-of-mouth - most usable waste is simply missed and landfilled today.</a:t>
            </a:r>
            <a:endParaRPr b="0" lang="en-U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25"/>
          <p:cNvSpPr/>
          <p:nvPr/>
        </p:nvSpPr>
        <p:spPr>
          <a:xfrm>
            <a:off x="4709160" y="2468880"/>
            <a:ext cx="6811920" cy="303552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d9e4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20" name="Shape 26"/>
          <p:cNvSpPr/>
          <p:nvPr/>
        </p:nvSpPr>
        <p:spPr>
          <a:xfrm>
            <a:off x="4983480" y="2706480"/>
            <a:ext cx="1261440" cy="255600"/>
          </a:xfrm>
          <a:prstGeom prst="roundRect">
            <a:avLst>
              <a:gd name="adj" fmla="val 50000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21" name="Text 27"/>
          <p:cNvSpPr/>
          <p:nvPr/>
        </p:nvSpPr>
        <p:spPr>
          <a:xfrm>
            <a:off x="5074920" y="2747880"/>
            <a:ext cx="10785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77" strike="noStrike">
                <a:solidFill>
                  <a:srgbClr val="ffffff"/>
                </a:solidFill>
                <a:latin typeface="Inter"/>
                <a:ea typeface="Inter"/>
              </a:rPr>
              <a:t>SDG ALIGNMENT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28"/>
          <p:cNvSpPr/>
          <p:nvPr/>
        </p:nvSpPr>
        <p:spPr>
          <a:xfrm>
            <a:off x="4983480" y="3200400"/>
            <a:ext cx="1508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062a61"/>
                </a:solidFill>
                <a:latin typeface="Inter"/>
                <a:ea typeface="Inter"/>
              </a:rPr>
              <a:t>SDG 12.5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29"/>
          <p:cNvSpPr/>
          <p:nvPr/>
        </p:nvSpPr>
        <p:spPr>
          <a:xfrm>
            <a:off x="6656760" y="3237120"/>
            <a:ext cx="3949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6666" lnSpcReduction="2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2147"/>
                </a:solidFill>
                <a:latin typeface="Inter"/>
                <a:ea typeface="Inter"/>
              </a:rPr>
              <a:t>Responsible Consumption &amp; Production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30"/>
          <p:cNvSpPr/>
          <p:nvPr/>
        </p:nvSpPr>
        <p:spPr>
          <a:xfrm>
            <a:off x="6446520" y="3730680"/>
            <a:ext cx="42973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6666" lnSpcReduction="1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5e6c84"/>
                </a:solidFill>
                <a:latin typeface="Roboto"/>
                <a:ea typeface="Roboto"/>
              </a:rPr>
              <a:t>Turns one unit's waste into another's input material - directly supporting SDG 9.4 (industrial resource efficiency), 11.6 (cluster environmental footprint) and 13 (climate action via CO2e tracking).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31"/>
          <p:cNvSpPr/>
          <p:nvPr/>
        </p:nvSpPr>
        <p:spPr>
          <a:xfrm>
            <a:off x="4983480" y="4535280"/>
            <a:ext cx="1170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69" strike="noStrike">
                <a:solidFill>
                  <a:srgbClr val="009a4e"/>
                </a:solidFill>
                <a:latin typeface="Inter"/>
                <a:ea typeface="Inter"/>
              </a:rPr>
              <a:t>TARGET OUTCOME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32"/>
          <p:cNvSpPr/>
          <p:nvPr/>
        </p:nvSpPr>
        <p:spPr>
          <a:xfrm>
            <a:off x="6272640" y="448956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1111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pc="-1" strike="noStrike">
                <a:solidFill>
                  <a:srgbClr val="0b2147"/>
                </a:solidFill>
                <a:latin typeface="Roboto"/>
                <a:ea typeface="Roboto"/>
              </a:rPr>
              <a:t>More verified inter-firm exchanges per cluster, less landfill waste, lower input costs for MSMEs</a:t>
            </a:r>
            <a:endParaRPr b="0" lang="en-US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33"/>
          <p:cNvSpPr/>
          <p:nvPr/>
        </p:nvSpPr>
        <p:spPr>
          <a:xfrm>
            <a:off x="4983480" y="4974480"/>
            <a:ext cx="1170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69" strike="noStrike">
                <a:solidFill>
                  <a:srgbClr val="009a4e"/>
                </a:solidFill>
                <a:latin typeface="Inter"/>
                <a:ea typeface="Inter"/>
              </a:rPr>
              <a:t>SUCCESS SIGNAL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34"/>
          <p:cNvSpPr/>
          <p:nvPr/>
        </p:nvSpPr>
        <p:spPr>
          <a:xfrm>
            <a:off x="6272640" y="4928760"/>
            <a:ext cx="2331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7222" lnSpcReduction="1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pc="-1" strike="noStrike">
                <a:solidFill>
                  <a:srgbClr val="0b2147"/>
                </a:solidFill>
                <a:latin typeface="Roboto"/>
                <a:ea typeface="Roboto"/>
              </a:rPr>
              <a:t>Completed exchanges and tonnes of waste diverted from landfill per cluster</a:t>
            </a:r>
            <a:endParaRPr b="0" lang="en-US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35"/>
          <p:cNvSpPr/>
          <p:nvPr/>
        </p:nvSpPr>
        <p:spPr>
          <a:xfrm>
            <a:off x="4983480" y="5294520"/>
            <a:ext cx="343440" cy="68400"/>
          </a:xfrm>
          <a:prstGeom prst="rect">
            <a:avLst/>
          </a:prstGeom>
          <a:solidFill>
            <a:srgbClr val="e5243b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3760" bIns="23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30" name="Shape 36"/>
          <p:cNvSpPr/>
          <p:nvPr/>
        </p:nvSpPr>
        <p:spPr>
          <a:xfrm>
            <a:off x="5343840" y="5294520"/>
            <a:ext cx="343440" cy="68400"/>
          </a:xfrm>
          <a:prstGeom prst="rect">
            <a:avLst/>
          </a:prstGeom>
          <a:solidFill>
            <a:srgbClr val="dda63a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3760" bIns="23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31" name="Shape 37"/>
          <p:cNvSpPr/>
          <p:nvPr/>
        </p:nvSpPr>
        <p:spPr>
          <a:xfrm>
            <a:off x="5704200" y="5294520"/>
            <a:ext cx="343440" cy="68400"/>
          </a:xfrm>
          <a:prstGeom prst="rect">
            <a:avLst/>
          </a:prstGeom>
          <a:solidFill>
            <a:srgbClr val="4c9f38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3760" bIns="23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32" name="Shape 38"/>
          <p:cNvSpPr/>
          <p:nvPr/>
        </p:nvSpPr>
        <p:spPr>
          <a:xfrm>
            <a:off x="6064200" y="5294520"/>
            <a:ext cx="343440" cy="68400"/>
          </a:xfrm>
          <a:prstGeom prst="rect">
            <a:avLst/>
          </a:prstGeom>
          <a:solidFill>
            <a:srgbClr val="c5192d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3760" bIns="23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33" name="Shape 39"/>
          <p:cNvSpPr/>
          <p:nvPr/>
        </p:nvSpPr>
        <p:spPr>
          <a:xfrm>
            <a:off x="6424560" y="5294520"/>
            <a:ext cx="343440" cy="68400"/>
          </a:xfrm>
          <a:prstGeom prst="rect">
            <a:avLst/>
          </a:prstGeom>
          <a:solidFill>
            <a:srgbClr val="ff3a21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3760" bIns="23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34" name="Shape 40"/>
          <p:cNvSpPr/>
          <p:nvPr/>
        </p:nvSpPr>
        <p:spPr>
          <a:xfrm>
            <a:off x="6784920" y="5294520"/>
            <a:ext cx="343440" cy="68400"/>
          </a:xfrm>
          <a:prstGeom prst="rect">
            <a:avLst/>
          </a:prstGeom>
          <a:solidFill>
            <a:srgbClr val="26bde2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3760" bIns="23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35" name="Shape 41"/>
          <p:cNvSpPr/>
          <p:nvPr/>
        </p:nvSpPr>
        <p:spPr>
          <a:xfrm>
            <a:off x="7145280" y="5294520"/>
            <a:ext cx="343440" cy="68400"/>
          </a:xfrm>
          <a:prstGeom prst="rect">
            <a:avLst/>
          </a:prstGeom>
          <a:solidFill>
            <a:srgbClr val="fcc30b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3760" bIns="23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36" name="Shape 42"/>
          <p:cNvSpPr/>
          <p:nvPr/>
        </p:nvSpPr>
        <p:spPr>
          <a:xfrm>
            <a:off x="7505280" y="5294520"/>
            <a:ext cx="343440" cy="68400"/>
          </a:xfrm>
          <a:prstGeom prst="rect">
            <a:avLst/>
          </a:prstGeom>
          <a:solidFill>
            <a:srgbClr val="a21942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3760" bIns="23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37" name="Shape 43"/>
          <p:cNvSpPr/>
          <p:nvPr/>
        </p:nvSpPr>
        <p:spPr>
          <a:xfrm>
            <a:off x="7865640" y="5294520"/>
            <a:ext cx="343440" cy="68400"/>
          </a:xfrm>
          <a:prstGeom prst="rect">
            <a:avLst/>
          </a:prstGeom>
          <a:solidFill>
            <a:srgbClr val="fd6925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3760" bIns="23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38" name="Shape 44"/>
          <p:cNvSpPr/>
          <p:nvPr/>
        </p:nvSpPr>
        <p:spPr>
          <a:xfrm>
            <a:off x="8226000" y="5294520"/>
            <a:ext cx="343440" cy="68400"/>
          </a:xfrm>
          <a:prstGeom prst="rect">
            <a:avLst/>
          </a:prstGeom>
          <a:solidFill>
            <a:srgbClr val="dd1367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3760" bIns="23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39" name="Shape 45"/>
          <p:cNvSpPr/>
          <p:nvPr/>
        </p:nvSpPr>
        <p:spPr>
          <a:xfrm>
            <a:off x="8586360" y="5294520"/>
            <a:ext cx="343440" cy="68400"/>
          </a:xfrm>
          <a:prstGeom prst="rect">
            <a:avLst/>
          </a:prstGeom>
          <a:solidFill>
            <a:srgbClr val="fd9d24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3760" bIns="23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40" name="Shape 46"/>
          <p:cNvSpPr/>
          <p:nvPr/>
        </p:nvSpPr>
        <p:spPr>
          <a:xfrm>
            <a:off x="8946360" y="5294520"/>
            <a:ext cx="343440" cy="68400"/>
          </a:xfrm>
          <a:prstGeom prst="rect">
            <a:avLst/>
          </a:prstGeom>
          <a:solidFill>
            <a:srgbClr val="bf8b2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3760" bIns="23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41" name="Shape 47"/>
          <p:cNvSpPr/>
          <p:nvPr/>
        </p:nvSpPr>
        <p:spPr>
          <a:xfrm>
            <a:off x="9306720" y="5294520"/>
            <a:ext cx="343440" cy="68400"/>
          </a:xfrm>
          <a:prstGeom prst="rect">
            <a:avLst/>
          </a:prstGeom>
          <a:solidFill>
            <a:srgbClr val="3f7e44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3760" bIns="23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42" name="Shape 48"/>
          <p:cNvSpPr/>
          <p:nvPr/>
        </p:nvSpPr>
        <p:spPr>
          <a:xfrm>
            <a:off x="9667080" y="5294520"/>
            <a:ext cx="343440" cy="68400"/>
          </a:xfrm>
          <a:prstGeom prst="rect">
            <a:avLst/>
          </a:prstGeom>
          <a:solidFill>
            <a:srgbClr val="0a97d9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3760" bIns="23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43" name="Shape 49"/>
          <p:cNvSpPr/>
          <p:nvPr/>
        </p:nvSpPr>
        <p:spPr>
          <a:xfrm>
            <a:off x="10027440" y="5294520"/>
            <a:ext cx="343440" cy="68400"/>
          </a:xfrm>
          <a:prstGeom prst="rect">
            <a:avLst/>
          </a:prstGeom>
          <a:solidFill>
            <a:srgbClr val="56c02b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3760" bIns="23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44" name="Shape 50"/>
          <p:cNvSpPr/>
          <p:nvPr/>
        </p:nvSpPr>
        <p:spPr>
          <a:xfrm>
            <a:off x="10387440" y="5294520"/>
            <a:ext cx="343440" cy="68400"/>
          </a:xfrm>
          <a:prstGeom prst="rect">
            <a:avLst/>
          </a:prstGeom>
          <a:solidFill>
            <a:srgbClr val="00689d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3760" bIns="23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45" name="Shape 51"/>
          <p:cNvSpPr/>
          <p:nvPr/>
        </p:nvSpPr>
        <p:spPr>
          <a:xfrm>
            <a:off x="10747800" y="5294520"/>
            <a:ext cx="343440" cy="68400"/>
          </a:xfrm>
          <a:prstGeom prst="rect">
            <a:avLst/>
          </a:prstGeom>
          <a:solidFill>
            <a:srgbClr val="19486a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3760" bIns="23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0"/>
          <p:cNvSpPr/>
          <p:nvPr/>
        </p:nvSpPr>
        <p:spPr>
          <a:xfrm>
            <a:off x="10561320" y="6117480"/>
            <a:ext cx="1051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b8cae0"/>
                </a:solidFill>
                <a:latin typeface="Inter"/>
                <a:ea typeface="Inter"/>
              </a:rPr>
              <a:t>04 / 08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Shape 1"/>
          <p:cNvSpPr/>
          <p:nvPr/>
        </p:nvSpPr>
        <p:spPr>
          <a:xfrm>
            <a:off x="781812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48" name="Shape 2"/>
          <p:cNvSpPr/>
          <p:nvPr/>
        </p:nvSpPr>
        <p:spPr>
          <a:xfrm>
            <a:off x="815652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49" name="Shape 3"/>
          <p:cNvSpPr/>
          <p:nvPr/>
        </p:nvSpPr>
        <p:spPr>
          <a:xfrm>
            <a:off x="849492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50" name="Shape 4"/>
          <p:cNvSpPr/>
          <p:nvPr/>
        </p:nvSpPr>
        <p:spPr>
          <a:xfrm>
            <a:off x="883296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51" name="Shape 5"/>
          <p:cNvSpPr/>
          <p:nvPr/>
        </p:nvSpPr>
        <p:spPr>
          <a:xfrm>
            <a:off x="917136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52" name="Shape 6"/>
          <p:cNvSpPr/>
          <p:nvPr/>
        </p:nvSpPr>
        <p:spPr>
          <a:xfrm>
            <a:off x="950976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53" name="Shape 7"/>
          <p:cNvSpPr/>
          <p:nvPr/>
        </p:nvSpPr>
        <p:spPr>
          <a:xfrm>
            <a:off x="984816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54" name="Shape 8"/>
          <p:cNvSpPr/>
          <p:nvPr/>
        </p:nvSpPr>
        <p:spPr>
          <a:xfrm>
            <a:off x="1018656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55" name="Text 9"/>
          <p:cNvSpPr/>
          <p:nvPr/>
        </p:nvSpPr>
        <p:spPr>
          <a:xfrm>
            <a:off x="621720" y="987480"/>
            <a:ext cx="4752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9a4e"/>
                </a:solidFill>
                <a:latin typeface="Inter"/>
                <a:ea typeface="Inter"/>
              </a:rPr>
              <a:t>04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Shape 10"/>
          <p:cNvSpPr/>
          <p:nvPr/>
        </p:nvSpPr>
        <p:spPr>
          <a:xfrm>
            <a:off x="1124640" y="1152000"/>
            <a:ext cx="475560" cy="360"/>
          </a:xfrm>
          <a:prstGeom prst="line">
            <a:avLst/>
          </a:prstGeom>
          <a:ln w="25400">
            <a:solidFill>
              <a:srgbClr val="009a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57" name="Text 11"/>
          <p:cNvSpPr/>
          <p:nvPr/>
        </p:nvSpPr>
        <p:spPr>
          <a:xfrm>
            <a:off x="1691640" y="97848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128" strike="noStrike">
                <a:solidFill>
                  <a:srgbClr val="009a4e"/>
                </a:solidFill>
                <a:latin typeface="Inter"/>
                <a:ea typeface="Inter"/>
              </a:rPr>
              <a:t>DESIGN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12"/>
          <p:cNvSpPr/>
          <p:nvPr/>
        </p:nvSpPr>
        <p:spPr>
          <a:xfrm>
            <a:off x="621720" y="1307520"/>
            <a:ext cx="81835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Inter"/>
                <a:ea typeface="Inter"/>
              </a:rPr>
              <a:t>The AI solution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13"/>
          <p:cNvSpPr/>
          <p:nvPr/>
        </p:nvSpPr>
        <p:spPr>
          <a:xfrm>
            <a:off x="640080" y="1892880"/>
            <a:ext cx="8960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c9d8ea"/>
                </a:solidFill>
                <a:latin typeface="Roboto"/>
                <a:ea typeface="Roboto"/>
              </a:rPr>
              <a:t>Show what your product does, where AI adds real value and why the approach is different.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Shape 14"/>
          <p:cNvSpPr/>
          <p:nvPr/>
        </p:nvSpPr>
        <p:spPr>
          <a:xfrm>
            <a:off x="658440" y="2414160"/>
            <a:ext cx="1334520" cy="255600"/>
          </a:xfrm>
          <a:prstGeom prst="roundRect">
            <a:avLst>
              <a:gd name="adj" fmla="val 50000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61" name="Text 15"/>
          <p:cNvSpPr/>
          <p:nvPr/>
        </p:nvSpPr>
        <p:spPr>
          <a:xfrm>
            <a:off x="749880" y="2455200"/>
            <a:ext cx="11516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77" strike="noStrike">
                <a:solidFill>
                  <a:srgbClr val="ffffff"/>
                </a:solidFill>
                <a:latin typeface="Inter"/>
                <a:ea typeface="Inter"/>
              </a:rPr>
              <a:t>ONE-LINE SOLUTION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16"/>
          <p:cNvSpPr/>
          <p:nvPr/>
        </p:nvSpPr>
        <p:spPr>
          <a:xfrm>
            <a:off x="658440" y="2761560"/>
            <a:ext cx="107712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1111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Inter"/>
                <a:ea typeface="Inter"/>
              </a:rPr>
              <a:t>Our solution helps MSME owners in an industrial cluster find and complete waste-to-resource exchanges by using AI to rank multi-hop matches, forecast listings and read text/photo intake.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Shape 17"/>
          <p:cNvSpPr/>
          <p:nvPr/>
        </p:nvSpPr>
        <p:spPr>
          <a:xfrm>
            <a:off x="658440" y="3703320"/>
            <a:ext cx="2358720" cy="1462680"/>
          </a:xfrm>
          <a:prstGeom prst="roundRect">
            <a:avLst>
              <a:gd name="adj" fmla="val 8750"/>
            </a:avLst>
          </a:prstGeom>
          <a:solidFill>
            <a:srgbClr val="0c356b"/>
          </a:solidFill>
          <a:ln w="12700">
            <a:solidFill>
              <a:srgbClr val="214f8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64" name="Shape 18"/>
          <p:cNvSpPr/>
          <p:nvPr/>
        </p:nvSpPr>
        <p:spPr>
          <a:xfrm>
            <a:off x="859680" y="3886200"/>
            <a:ext cx="328680" cy="328680"/>
          </a:xfrm>
          <a:prstGeom prst="ellipse">
            <a:avLst/>
          </a:prstGeom>
          <a:solidFill>
            <a:srgbClr val="2d5e9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65" name="Text 19"/>
          <p:cNvSpPr/>
          <p:nvPr/>
        </p:nvSpPr>
        <p:spPr>
          <a:xfrm>
            <a:off x="859680" y="3927240"/>
            <a:ext cx="32868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Inter"/>
                <a:ea typeface="Inter"/>
              </a:rPr>
              <a:t>01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20"/>
          <p:cNvSpPr/>
          <p:nvPr/>
        </p:nvSpPr>
        <p:spPr>
          <a:xfrm>
            <a:off x="1298520" y="3867840"/>
            <a:ext cx="1535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Inter"/>
                <a:ea typeface="Inter"/>
              </a:rPr>
              <a:t>INPUT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21"/>
          <p:cNvSpPr/>
          <p:nvPr/>
        </p:nvSpPr>
        <p:spPr>
          <a:xfrm>
            <a:off x="859680" y="4343400"/>
            <a:ext cx="19566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9d8ea"/>
                </a:solidFill>
                <a:latin typeface="Roboto"/>
                <a:ea typeface="Roboto"/>
              </a:rPr>
              <a:t>Waste/need listings via web form, WhatsApp/voice-note text or photo, plus posting history and unit trust data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Shape 22"/>
          <p:cNvSpPr/>
          <p:nvPr/>
        </p:nvSpPr>
        <p:spPr>
          <a:xfrm>
            <a:off x="3401640" y="3703320"/>
            <a:ext cx="2358720" cy="1462680"/>
          </a:xfrm>
          <a:prstGeom prst="roundRect">
            <a:avLst>
              <a:gd name="adj" fmla="val 8750"/>
            </a:avLst>
          </a:prstGeom>
          <a:solidFill>
            <a:srgbClr val="0c356b"/>
          </a:solidFill>
          <a:ln w="12700">
            <a:solidFill>
              <a:srgbClr val="214f8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69" name="Shape 23"/>
          <p:cNvSpPr/>
          <p:nvPr/>
        </p:nvSpPr>
        <p:spPr>
          <a:xfrm>
            <a:off x="3602880" y="3886200"/>
            <a:ext cx="328680" cy="328680"/>
          </a:xfrm>
          <a:prstGeom prst="ellipse">
            <a:avLst/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70" name="Text 24"/>
          <p:cNvSpPr/>
          <p:nvPr/>
        </p:nvSpPr>
        <p:spPr>
          <a:xfrm>
            <a:off x="3602880" y="3927240"/>
            <a:ext cx="32868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Inter"/>
                <a:ea typeface="Inter"/>
              </a:rPr>
              <a:t>AI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25"/>
          <p:cNvSpPr/>
          <p:nvPr/>
        </p:nvSpPr>
        <p:spPr>
          <a:xfrm>
            <a:off x="4041720" y="3867840"/>
            <a:ext cx="1535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Inter"/>
                <a:ea typeface="Inter"/>
              </a:rPr>
              <a:t>INTELLIGENCE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 26"/>
          <p:cNvSpPr/>
          <p:nvPr/>
        </p:nvSpPr>
        <p:spPr>
          <a:xfrm>
            <a:off x="3602880" y="4343400"/>
            <a:ext cx="19566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 fontScale="87222" lnSpcReduction="1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9d8ea"/>
                </a:solidFill>
                <a:latin typeface="Roboto"/>
                <a:ea typeface="Roboto"/>
              </a:rPr>
              <a:t>4 trained models: TF-IDF + logistic-regression intake classifier, Ridge forecaster, logistic-regression match ranker, Random Forest photo classifier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Shape 27"/>
          <p:cNvSpPr/>
          <p:nvPr/>
        </p:nvSpPr>
        <p:spPr>
          <a:xfrm>
            <a:off x="6144840" y="3703320"/>
            <a:ext cx="2358720" cy="1462680"/>
          </a:xfrm>
          <a:prstGeom prst="roundRect">
            <a:avLst>
              <a:gd name="adj" fmla="val 8750"/>
            </a:avLst>
          </a:prstGeom>
          <a:solidFill>
            <a:srgbClr val="0c356b"/>
          </a:solidFill>
          <a:ln w="12700">
            <a:solidFill>
              <a:srgbClr val="214f8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74" name="Shape 28"/>
          <p:cNvSpPr/>
          <p:nvPr/>
        </p:nvSpPr>
        <p:spPr>
          <a:xfrm>
            <a:off x="6346080" y="3886200"/>
            <a:ext cx="328680" cy="328680"/>
          </a:xfrm>
          <a:prstGeom prst="ellipse">
            <a:avLst/>
          </a:prstGeom>
          <a:solidFill>
            <a:srgbClr val="2d5e9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75" name="Text 29"/>
          <p:cNvSpPr/>
          <p:nvPr/>
        </p:nvSpPr>
        <p:spPr>
          <a:xfrm>
            <a:off x="6346080" y="3927240"/>
            <a:ext cx="32868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Inter"/>
                <a:ea typeface="Inter"/>
              </a:rPr>
              <a:t>03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30"/>
          <p:cNvSpPr/>
          <p:nvPr/>
        </p:nvSpPr>
        <p:spPr>
          <a:xfrm>
            <a:off x="6784920" y="3867840"/>
            <a:ext cx="1535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Inter"/>
                <a:ea typeface="Inter"/>
              </a:rPr>
              <a:t>EXPERIENCE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31"/>
          <p:cNvSpPr/>
          <p:nvPr/>
        </p:nvSpPr>
        <p:spPr>
          <a:xfrm>
            <a:off x="6346080" y="4343400"/>
            <a:ext cx="19566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 fontScale="87222" lnSpcReduction="2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9d8ea"/>
                </a:solidFill>
                <a:latin typeface="Roboto"/>
                <a:ea typeface="Roboto"/>
              </a:rPr>
              <a:t>Owner sees ranked match chains (direct + 2-3 hop) with a plain-language reason, posts via web/WhatsApp/photo, tracks orders and trust on one dashboard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Shape 32"/>
          <p:cNvSpPr/>
          <p:nvPr/>
        </p:nvSpPr>
        <p:spPr>
          <a:xfrm>
            <a:off x="8888040" y="3703320"/>
            <a:ext cx="2358720" cy="1462680"/>
          </a:xfrm>
          <a:prstGeom prst="roundRect">
            <a:avLst>
              <a:gd name="adj" fmla="val 8750"/>
            </a:avLst>
          </a:prstGeom>
          <a:solidFill>
            <a:srgbClr val="0c356b"/>
          </a:solidFill>
          <a:ln w="12700">
            <a:solidFill>
              <a:srgbClr val="214f8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79" name="Shape 33"/>
          <p:cNvSpPr/>
          <p:nvPr/>
        </p:nvSpPr>
        <p:spPr>
          <a:xfrm>
            <a:off x="9089280" y="3886200"/>
            <a:ext cx="328680" cy="328680"/>
          </a:xfrm>
          <a:prstGeom prst="ellipse">
            <a:avLst/>
          </a:prstGeom>
          <a:solidFill>
            <a:srgbClr val="2fc4b2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80" name="Text 34"/>
          <p:cNvSpPr/>
          <p:nvPr/>
        </p:nvSpPr>
        <p:spPr>
          <a:xfrm>
            <a:off x="9089280" y="3927240"/>
            <a:ext cx="32868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Inter"/>
                <a:ea typeface="Inter"/>
              </a:rPr>
              <a:t>04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35"/>
          <p:cNvSpPr/>
          <p:nvPr/>
        </p:nvSpPr>
        <p:spPr>
          <a:xfrm>
            <a:off x="9528120" y="3867840"/>
            <a:ext cx="1535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Inter"/>
                <a:ea typeface="Inter"/>
              </a:rPr>
              <a:t>OUTCOME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36"/>
          <p:cNvSpPr/>
          <p:nvPr/>
        </p:nvSpPr>
        <p:spPr>
          <a:xfrm>
            <a:off x="9089280" y="4343400"/>
            <a:ext cx="19566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9d8ea"/>
                </a:solidFill>
                <a:latin typeface="Roboto"/>
                <a:ea typeface="Roboto"/>
              </a:rPr>
              <a:t>Faster, verified matches; usable waste diverted from landfill instead of missed; lower raw-material cost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Shape 37"/>
          <p:cNvSpPr/>
          <p:nvPr/>
        </p:nvSpPr>
        <p:spPr>
          <a:xfrm>
            <a:off x="658440" y="5403960"/>
            <a:ext cx="10588320" cy="667080"/>
          </a:xfrm>
          <a:prstGeom prst="roundRect">
            <a:avLst>
              <a:gd name="adj" fmla="val 20548"/>
            </a:avLst>
          </a:prstGeom>
          <a:solidFill>
            <a:srgbClr val="113f77"/>
          </a:solidFill>
          <a:ln w="12700">
            <a:solidFill>
              <a:srgbClr val="315f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84" name="Text 38"/>
          <p:cNvSpPr/>
          <p:nvPr/>
        </p:nvSpPr>
        <p:spPr>
          <a:xfrm>
            <a:off x="896040" y="5568840"/>
            <a:ext cx="10112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Inter"/>
                <a:ea typeface="Inter"/>
              </a:rPr>
              <a:t>WHY AI?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39"/>
          <p:cNvSpPr/>
          <p:nvPr/>
        </p:nvSpPr>
        <p:spPr>
          <a:xfrm>
            <a:off x="896040" y="5916240"/>
            <a:ext cx="10112760" cy="1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5e2f0"/>
                </a:solidFill>
                <a:latin typeface="Roboto"/>
                <a:ea typeface="Roboto"/>
              </a:rPr>
              <a:t>Can't parse text/photos or learn saving-distance-trust interactions like AI does.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 0"/>
          <p:cNvSpPr/>
          <p:nvPr/>
        </p:nvSpPr>
        <p:spPr>
          <a:xfrm>
            <a:off x="10561320" y="6117480"/>
            <a:ext cx="1051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5e6c84"/>
                </a:solidFill>
                <a:latin typeface="Inter"/>
                <a:ea typeface="Inter"/>
              </a:rPr>
              <a:t>05 / 08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1"/>
          <p:cNvSpPr/>
          <p:nvPr/>
        </p:nvSpPr>
        <p:spPr>
          <a:xfrm>
            <a:off x="781812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88" name="Shape 2"/>
          <p:cNvSpPr/>
          <p:nvPr/>
        </p:nvSpPr>
        <p:spPr>
          <a:xfrm>
            <a:off x="815652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89" name="Shape 3"/>
          <p:cNvSpPr/>
          <p:nvPr/>
        </p:nvSpPr>
        <p:spPr>
          <a:xfrm>
            <a:off x="849492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90" name="Shape 4"/>
          <p:cNvSpPr/>
          <p:nvPr/>
        </p:nvSpPr>
        <p:spPr>
          <a:xfrm>
            <a:off x="883296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91" name="Shape 5"/>
          <p:cNvSpPr/>
          <p:nvPr/>
        </p:nvSpPr>
        <p:spPr>
          <a:xfrm>
            <a:off x="917136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92" name="Shape 6"/>
          <p:cNvSpPr/>
          <p:nvPr/>
        </p:nvSpPr>
        <p:spPr>
          <a:xfrm>
            <a:off x="950976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93" name="Shape 7"/>
          <p:cNvSpPr/>
          <p:nvPr/>
        </p:nvSpPr>
        <p:spPr>
          <a:xfrm>
            <a:off x="984816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94" name="Shape 8"/>
          <p:cNvSpPr/>
          <p:nvPr/>
        </p:nvSpPr>
        <p:spPr>
          <a:xfrm>
            <a:off x="1018656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95" name="Text 9"/>
          <p:cNvSpPr/>
          <p:nvPr/>
        </p:nvSpPr>
        <p:spPr>
          <a:xfrm>
            <a:off x="621720" y="987480"/>
            <a:ext cx="4752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9a4e"/>
                </a:solidFill>
                <a:latin typeface="Inter"/>
                <a:ea typeface="Inter"/>
              </a:rPr>
              <a:t>05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10"/>
          <p:cNvSpPr/>
          <p:nvPr/>
        </p:nvSpPr>
        <p:spPr>
          <a:xfrm>
            <a:off x="1124640" y="1152000"/>
            <a:ext cx="475560" cy="360"/>
          </a:xfrm>
          <a:prstGeom prst="line">
            <a:avLst/>
          </a:prstGeom>
          <a:ln w="25400">
            <a:solidFill>
              <a:srgbClr val="009a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197" name="Text 11"/>
          <p:cNvSpPr/>
          <p:nvPr/>
        </p:nvSpPr>
        <p:spPr>
          <a:xfrm>
            <a:off x="1691640" y="97848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128" strike="noStrike">
                <a:solidFill>
                  <a:srgbClr val="009a4e"/>
                </a:solidFill>
                <a:latin typeface="Inter"/>
                <a:ea typeface="Inter"/>
              </a:rPr>
              <a:t>DESIGN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12"/>
          <p:cNvSpPr/>
          <p:nvPr/>
        </p:nvSpPr>
        <p:spPr>
          <a:xfrm>
            <a:off x="621720" y="1307520"/>
            <a:ext cx="81835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0b2147"/>
                </a:solidFill>
                <a:latin typeface="Inter"/>
                <a:ea typeface="Inter"/>
              </a:rPr>
              <a:t>How it works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13"/>
          <p:cNvSpPr/>
          <p:nvPr/>
        </p:nvSpPr>
        <p:spPr>
          <a:xfrm>
            <a:off x="640080" y="1892880"/>
            <a:ext cx="8960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e6c84"/>
                </a:solidFill>
                <a:latin typeface="Roboto"/>
                <a:ea typeface="Roboto"/>
              </a:rPr>
              <a:t>Keep the architecture understandable to both technical and non-technical judges.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14"/>
          <p:cNvSpPr/>
          <p:nvPr/>
        </p:nvSpPr>
        <p:spPr>
          <a:xfrm>
            <a:off x="658440" y="2953440"/>
            <a:ext cx="1572480" cy="16272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9e4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01" name="Shape 15"/>
          <p:cNvSpPr/>
          <p:nvPr/>
        </p:nvSpPr>
        <p:spPr>
          <a:xfrm>
            <a:off x="1252800" y="3099960"/>
            <a:ext cx="383760" cy="383760"/>
          </a:xfrm>
          <a:prstGeom prst="ellipse">
            <a:avLst/>
          </a:prstGeom>
          <a:solidFill>
            <a:srgbClr val="123c7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02" name="Text 16"/>
          <p:cNvSpPr/>
          <p:nvPr/>
        </p:nvSpPr>
        <p:spPr>
          <a:xfrm>
            <a:off x="1271160" y="3191400"/>
            <a:ext cx="3470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Inter"/>
                <a:ea typeface="Inter"/>
              </a:rPr>
              <a:t>1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17"/>
          <p:cNvSpPr/>
          <p:nvPr/>
        </p:nvSpPr>
        <p:spPr>
          <a:xfrm>
            <a:off x="822960" y="3611880"/>
            <a:ext cx="1243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80" spc="-1" strike="noStrike">
                <a:solidFill>
                  <a:srgbClr val="062a61"/>
                </a:solidFill>
                <a:latin typeface="Inter"/>
                <a:ea typeface="Inter"/>
              </a:rPr>
              <a:t>INPUT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18"/>
          <p:cNvSpPr/>
          <p:nvPr/>
        </p:nvSpPr>
        <p:spPr>
          <a:xfrm>
            <a:off x="813960" y="3959280"/>
            <a:ext cx="1261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5000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5e6c84"/>
                </a:solidFill>
                <a:latin typeface="Roboto"/>
                <a:ea typeface="Roboto"/>
              </a:rPr>
              <a:t>Web form listing, WhatsApp/voice message, uploaded photo, or simulated IoT bin sensor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19"/>
          <p:cNvSpPr/>
          <p:nvPr/>
        </p:nvSpPr>
        <p:spPr>
          <a:xfrm>
            <a:off x="2286000" y="3648600"/>
            <a:ext cx="310680" cy="310680"/>
          </a:xfrm>
          <a:prstGeom prst="chevron">
            <a:avLst>
              <a:gd name="adj" fmla="val 50000"/>
            </a:avLst>
          </a:prstGeom>
          <a:solidFill>
            <a:srgbClr val="a8b8cb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06" name="Shape 20"/>
          <p:cNvSpPr/>
          <p:nvPr/>
        </p:nvSpPr>
        <p:spPr>
          <a:xfrm>
            <a:off x="2788920" y="2953440"/>
            <a:ext cx="1572480" cy="16272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9e4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07" name="Shape 21"/>
          <p:cNvSpPr/>
          <p:nvPr/>
        </p:nvSpPr>
        <p:spPr>
          <a:xfrm>
            <a:off x="3383280" y="3099960"/>
            <a:ext cx="383760" cy="383760"/>
          </a:xfrm>
          <a:prstGeom prst="ellipse">
            <a:avLst/>
          </a:prstGeom>
          <a:solidFill>
            <a:srgbClr val="123c7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08" name="Text 22"/>
          <p:cNvSpPr/>
          <p:nvPr/>
        </p:nvSpPr>
        <p:spPr>
          <a:xfrm>
            <a:off x="3401640" y="3191400"/>
            <a:ext cx="3470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Inter"/>
                <a:ea typeface="Inter"/>
              </a:rPr>
              <a:t>2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23"/>
          <p:cNvSpPr/>
          <p:nvPr/>
        </p:nvSpPr>
        <p:spPr>
          <a:xfrm>
            <a:off x="2953440" y="3611880"/>
            <a:ext cx="1243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80" spc="-1" strike="noStrike">
                <a:solidFill>
                  <a:srgbClr val="062a61"/>
                </a:solidFill>
                <a:latin typeface="Inter"/>
                <a:ea typeface="Inter"/>
              </a:rPr>
              <a:t>PREPARE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24"/>
          <p:cNvSpPr/>
          <p:nvPr/>
        </p:nvSpPr>
        <p:spPr>
          <a:xfrm>
            <a:off x="2944440" y="3959280"/>
            <a:ext cx="1261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5000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5e6c84"/>
                </a:solidFill>
                <a:latin typeface="Roboto"/>
                <a:ea typeface="Roboto"/>
              </a:rPr>
              <a:t>Validate + structure the listing - parse text/Hinglish, extract material/quantity, or classify the photo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25"/>
          <p:cNvSpPr/>
          <p:nvPr/>
        </p:nvSpPr>
        <p:spPr>
          <a:xfrm>
            <a:off x="4416480" y="3648600"/>
            <a:ext cx="310680" cy="310680"/>
          </a:xfrm>
          <a:prstGeom prst="chevron">
            <a:avLst>
              <a:gd name="adj" fmla="val 50000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12" name="Shape 26"/>
          <p:cNvSpPr/>
          <p:nvPr/>
        </p:nvSpPr>
        <p:spPr>
          <a:xfrm>
            <a:off x="4919400" y="2953440"/>
            <a:ext cx="1572480" cy="1627200"/>
          </a:xfrm>
          <a:prstGeom prst="roundRect">
            <a:avLst>
              <a:gd name="adj" fmla="val 8140"/>
            </a:avLst>
          </a:prstGeom>
          <a:solidFill>
            <a:srgbClr val="eaf8f1"/>
          </a:solidFill>
          <a:ln w="12700">
            <a:solidFill>
              <a:srgbClr val="a9de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13" name="Shape 27"/>
          <p:cNvSpPr/>
          <p:nvPr/>
        </p:nvSpPr>
        <p:spPr>
          <a:xfrm>
            <a:off x="5513760" y="3099960"/>
            <a:ext cx="383760" cy="383760"/>
          </a:xfrm>
          <a:prstGeom prst="ellipse">
            <a:avLst/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14" name="Text 28"/>
          <p:cNvSpPr/>
          <p:nvPr/>
        </p:nvSpPr>
        <p:spPr>
          <a:xfrm>
            <a:off x="5532120" y="3191400"/>
            <a:ext cx="3470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Inter"/>
                <a:ea typeface="Inter"/>
              </a:rPr>
              <a:t>AI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29"/>
          <p:cNvSpPr/>
          <p:nvPr/>
        </p:nvSpPr>
        <p:spPr>
          <a:xfrm>
            <a:off x="5083920" y="3611880"/>
            <a:ext cx="1243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80" spc="-1" strike="noStrike">
                <a:solidFill>
                  <a:srgbClr val="009a4e"/>
                </a:solidFill>
                <a:latin typeface="Inter"/>
                <a:ea typeface="Inter"/>
              </a:rPr>
              <a:t>AI CORE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30"/>
          <p:cNvSpPr/>
          <p:nvPr/>
        </p:nvSpPr>
        <p:spPr>
          <a:xfrm>
            <a:off x="5074920" y="3959280"/>
            <a:ext cx="1261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5000" lnSpcReduction="20000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5e6c84"/>
                </a:solidFill>
                <a:latin typeface="Roboto"/>
                <a:ea typeface="Roboto"/>
              </a:rPr>
              <a:t>Forecast next listing (Ridge) → rank direct + 2-3 hop match chains (logistic regression) → group small loads for pooled transport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31"/>
          <p:cNvSpPr/>
          <p:nvPr/>
        </p:nvSpPr>
        <p:spPr>
          <a:xfrm>
            <a:off x="6546960" y="3648600"/>
            <a:ext cx="310680" cy="310680"/>
          </a:xfrm>
          <a:prstGeom prst="chevron">
            <a:avLst>
              <a:gd name="adj" fmla="val 50000"/>
            </a:avLst>
          </a:prstGeom>
          <a:solidFill>
            <a:srgbClr val="a8b8cb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18" name="Shape 32"/>
          <p:cNvSpPr/>
          <p:nvPr/>
        </p:nvSpPr>
        <p:spPr>
          <a:xfrm>
            <a:off x="7049880" y="2953440"/>
            <a:ext cx="1572480" cy="16272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9e4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19" name="Shape 33"/>
          <p:cNvSpPr/>
          <p:nvPr/>
        </p:nvSpPr>
        <p:spPr>
          <a:xfrm>
            <a:off x="7644240" y="3099960"/>
            <a:ext cx="383760" cy="383760"/>
          </a:xfrm>
          <a:prstGeom prst="ellipse">
            <a:avLst/>
          </a:prstGeom>
          <a:solidFill>
            <a:srgbClr val="123c7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20" name="Text 34"/>
          <p:cNvSpPr/>
          <p:nvPr/>
        </p:nvSpPr>
        <p:spPr>
          <a:xfrm>
            <a:off x="7662600" y="3191400"/>
            <a:ext cx="3470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Inter"/>
                <a:ea typeface="Inter"/>
              </a:rPr>
              <a:t>4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35"/>
          <p:cNvSpPr/>
          <p:nvPr/>
        </p:nvSpPr>
        <p:spPr>
          <a:xfrm>
            <a:off x="7214760" y="3611880"/>
            <a:ext cx="1243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80" spc="-1" strike="noStrike">
                <a:solidFill>
                  <a:srgbClr val="062a61"/>
                </a:solidFill>
                <a:latin typeface="Inter"/>
                <a:ea typeface="Inter"/>
              </a:rPr>
              <a:t>DECIDE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36"/>
          <p:cNvSpPr/>
          <p:nvPr/>
        </p:nvSpPr>
        <p:spPr>
          <a:xfrm>
            <a:off x="7205400" y="3959280"/>
            <a:ext cx="1261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5000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5e6c84"/>
                </a:solidFill>
                <a:latin typeface="Roboto"/>
                <a:ea typeface="Roboto"/>
              </a:rPr>
              <a:t>Rank matches by saving/distance/trust; flag at-risk orders (logistic regression) before they fail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37"/>
          <p:cNvSpPr/>
          <p:nvPr/>
        </p:nvSpPr>
        <p:spPr>
          <a:xfrm>
            <a:off x="8677800" y="3648600"/>
            <a:ext cx="310680" cy="310680"/>
          </a:xfrm>
          <a:prstGeom prst="chevron">
            <a:avLst>
              <a:gd name="adj" fmla="val 50000"/>
            </a:avLst>
          </a:prstGeom>
          <a:solidFill>
            <a:srgbClr val="a8b8cb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24" name="Shape 38"/>
          <p:cNvSpPr/>
          <p:nvPr/>
        </p:nvSpPr>
        <p:spPr>
          <a:xfrm>
            <a:off x="9180720" y="2953440"/>
            <a:ext cx="1572480" cy="16272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9e4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25" name="Shape 39"/>
          <p:cNvSpPr/>
          <p:nvPr/>
        </p:nvSpPr>
        <p:spPr>
          <a:xfrm>
            <a:off x="9775080" y="3099960"/>
            <a:ext cx="383760" cy="383760"/>
          </a:xfrm>
          <a:prstGeom prst="ellipse">
            <a:avLst/>
          </a:prstGeom>
          <a:solidFill>
            <a:srgbClr val="123c7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26" name="Text 40"/>
          <p:cNvSpPr/>
          <p:nvPr/>
        </p:nvSpPr>
        <p:spPr>
          <a:xfrm>
            <a:off x="9793080" y="3191400"/>
            <a:ext cx="3470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Inter"/>
                <a:ea typeface="Inter"/>
              </a:rPr>
              <a:t>5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41"/>
          <p:cNvSpPr/>
          <p:nvPr/>
        </p:nvSpPr>
        <p:spPr>
          <a:xfrm>
            <a:off x="9345240" y="3611880"/>
            <a:ext cx="1243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80" spc="-1" strike="noStrike">
                <a:solidFill>
                  <a:srgbClr val="062a61"/>
                </a:solidFill>
                <a:latin typeface="Inter"/>
                <a:ea typeface="Inter"/>
              </a:rPr>
              <a:t>OUTPUT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42"/>
          <p:cNvSpPr/>
          <p:nvPr/>
        </p:nvSpPr>
        <p:spPr>
          <a:xfrm>
            <a:off x="9335880" y="3959280"/>
            <a:ext cx="1261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5000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5e6c84"/>
                </a:solidFill>
                <a:latin typeface="Roboto"/>
                <a:ea typeface="Roboto"/>
              </a:rPr>
              <a:t>Ranked match dashboard with plain-language reason, order lifecycle tracking, BRSR/carbon-credit reports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43"/>
          <p:cNvSpPr/>
          <p:nvPr/>
        </p:nvSpPr>
        <p:spPr>
          <a:xfrm>
            <a:off x="658440" y="4983480"/>
            <a:ext cx="5047200" cy="749520"/>
          </a:xfrm>
          <a:prstGeom prst="roundRect">
            <a:avLst>
              <a:gd name="adj" fmla="val 18293"/>
            </a:avLst>
          </a:prstGeom>
          <a:solidFill>
            <a:srgbClr val="eaf8f1"/>
          </a:solidFill>
          <a:ln w="12700">
            <a:solidFill>
              <a:srgbClr val="cbe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30" name="Text 44"/>
          <p:cNvSpPr/>
          <p:nvPr/>
        </p:nvSpPr>
        <p:spPr>
          <a:xfrm>
            <a:off x="896040" y="514800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09a4e"/>
                </a:solidFill>
                <a:latin typeface="Inter"/>
                <a:ea typeface="Inter"/>
              </a:rPr>
              <a:t>TECH STACK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45"/>
          <p:cNvSpPr/>
          <p:nvPr/>
        </p:nvSpPr>
        <p:spPr>
          <a:xfrm>
            <a:off x="896040" y="5495400"/>
            <a:ext cx="4571640" cy="9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5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b2147"/>
                </a:solidFill>
                <a:latin typeface="Roboto"/>
                <a:ea typeface="Roboto"/>
              </a:rPr>
              <a:t>Python / Flask + MySQL  •  scikit-learn  •  Google OR-Tools  •  Twilio WhatsApp  •  Google Maps API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46"/>
          <p:cNvSpPr/>
          <p:nvPr/>
        </p:nvSpPr>
        <p:spPr>
          <a:xfrm>
            <a:off x="5906880" y="4983480"/>
            <a:ext cx="5339880" cy="749520"/>
          </a:xfrm>
          <a:prstGeom prst="roundRect">
            <a:avLst>
              <a:gd name="adj" fmla="val 18293"/>
            </a:avLst>
          </a:prstGeom>
          <a:solidFill>
            <a:srgbClr val="eaf8f1"/>
          </a:solidFill>
          <a:ln w="12700">
            <a:solidFill>
              <a:srgbClr val="cbe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33" name="Text 47"/>
          <p:cNvSpPr/>
          <p:nvPr/>
        </p:nvSpPr>
        <p:spPr>
          <a:xfrm>
            <a:off x="6144840" y="5148000"/>
            <a:ext cx="4864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09a4e"/>
                </a:solidFill>
                <a:latin typeface="Inter"/>
                <a:ea typeface="Inter"/>
              </a:rPr>
              <a:t>SAFETY / RESPONSIBLE AI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48"/>
          <p:cNvSpPr/>
          <p:nvPr/>
        </p:nvSpPr>
        <p:spPr>
          <a:xfrm>
            <a:off x="6144840" y="5495400"/>
            <a:ext cx="4864320" cy="9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5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b2147"/>
                </a:solidFill>
                <a:latin typeface="Roboto"/>
                <a:ea typeface="Roboto"/>
              </a:rPr>
              <a:t>Every score gets a plain-language reason, not a black box; models revert to a heuristic if accuracy drops.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 0"/>
          <p:cNvSpPr/>
          <p:nvPr/>
        </p:nvSpPr>
        <p:spPr>
          <a:xfrm>
            <a:off x="10561320" y="6117480"/>
            <a:ext cx="1051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b8cae0"/>
                </a:solidFill>
                <a:latin typeface="Inter"/>
                <a:ea typeface="Inter"/>
              </a:rPr>
              <a:t>06 / 08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Shape 1"/>
          <p:cNvSpPr/>
          <p:nvPr/>
        </p:nvSpPr>
        <p:spPr>
          <a:xfrm>
            <a:off x="781812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37" name="Shape 2"/>
          <p:cNvSpPr/>
          <p:nvPr/>
        </p:nvSpPr>
        <p:spPr>
          <a:xfrm>
            <a:off x="815652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38" name="Shape 3"/>
          <p:cNvSpPr/>
          <p:nvPr/>
        </p:nvSpPr>
        <p:spPr>
          <a:xfrm>
            <a:off x="849492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39" name="Shape 4"/>
          <p:cNvSpPr/>
          <p:nvPr/>
        </p:nvSpPr>
        <p:spPr>
          <a:xfrm>
            <a:off x="883296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40" name="Shape 5"/>
          <p:cNvSpPr/>
          <p:nvPr/>
        </p:nvSpPr>
        <p:spPr>
          <a:xfrm>
            <a:off x="917136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41" name="Shape 6"/>
          <p:cNvSpPr/>
          <p:nvPr/>
        </p:nvSpPr>
        <p:spPr>
          <a:xfrm>
            <a:off x="950976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42" name="Shape 7"/>
          <p:cNvSpPr/>
          <p:nvPr/>
        </p:nvSpPr>
        <p:spPr>
          <a:xfrm>
            <a:off x="984816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43" name="Shape 8"/>
          <p:cNvSpPr/>
          <p:nvPr/>
        </p:nvSpPr>
        <p:spPr>
          <a:xfrm>
            <a:off x="1018656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44" name="Text 9"/>
          <p:cNvSpPr/>
          <p:nvPr/>
        </p:nvSpPr>
        <p:spPr>
          <a:xfrm>
            <a:off x="621720" y="987480"/>
            <a:ext cx="4752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9a4e"/>
                </a:solidFill>
                <a:latin typeface="Inter"/>
                <a:ea typeface="Inter"/>
              </a:rPr>
              <a:t>06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Shape 10"/>
          <p:cNvSpPr/>
          <p:nvPr/>
        </p:nvSpPr>
        <p:spPr>
          <a:xfrm>
            <a:off x="1124640" y="1152000"/>
            <a:ext cx="475560" cy="360"/>
          </a:xfrm>
          <a:prstGeom prst="line">
            <a:avLst/>
          </a:prstGeom>
          <a:ln w="25400">
            <a:solidFill>
              <a:srgbClr val="009a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46" name="Text 11"/>
          <p:cNvSpPr/>
          <p:nvPr/>
        </p:nvSpPr>
        <p:spPr>
          <a:xfrm>
            <a:off x="1691640" y="97848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128" strike="noStrike">
                <a:solidFill>
                  <a:srgbClr val="009a4e"/>
                </a:solidFill>
                <a:latin typeface="Inter"/>
                <a:ea typeface="Inter"/>
              </a:rPr>
              <a:t>PROVE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 12"/>
          <p:cNvSpPr/>
          <p:nvPr/>
        </p:nvSpPr>
        <p:spPr>
          <a:xfrm>
            <a:off x="621720" y="1307520"/>
            <a:ext cx="81835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Inter"/>
                <a:ea typeface="Inter"/>
              </a:rPr>
              <a:t>Prototype + proof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 13"/>
          <p:cNvSpPr/>
          <p:nvPr/>
        </p:nvSpPr>
        <p:spPr>
          <a:xfrm>
            <a:off x="640080" y="1892880"/>
            <a:ext cx="8960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c9d8ea"/>
                </a:solidFill>
                <a:latin typeface="Roboto"/>
                <a:ea typeface="Roboto"/>
              </a:rPr>
              <a:t>Do not describe the product when you can show it. Use real screens, outputs, tests and evidence.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Shape 14"/>
          <p:cNvSpPr/>
          <p:nvPr/>
        </p:nvSpPr>
        <p:spPr>
          <a:xfrm>
            <a:off x="658440" y="2487240"/>
            <a:ext cx="6034680" cy="3017160"/>
          </a:xfrm>
          <a:prstGeom prst="roundRect">
            <a:avLst>
              <a:gd name="adj" fmla="val 3636"/>
            </a:avLst>
          </a:prstGeom>
          <a:solidFill>
            <a:srgbClr val="0a2f62"/>
          </a:solidFill>
          <a:ln w="19050">
            <a:solidFill>
              <a:srgbClr val="5f83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50" name="Shape 15"/>
          <p:cNvSpPr/>
          <p:nvPr/>
        </p:nvSpPr>
        <p:spPr>
          <a:xfrm>
            <a:off x="841320" y="2670120"/>
            <a:ext cx="5668920" cy="200880"/>
          </a:xfrm>
          <a:prstGeom prst="rect">
            <a:avLst/>
          </a:prstGeom>
          <a:solidFill>
            <a:srgbClr val="103e78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51" name="Shape 16"/>
          <p:cNvSpPr/>
          <p:nvPr/>
        </p:nvSpPr>
        <p:spPr>
          <a:xfrm>
            <a:off x="905400" y="2720520"/>
            <a:ext cx="63720" cy="63720"/>
          </a:xfrm>
          <a:prstGeom prst="ellipse">
            <a:avLst/>
          </a:prstGeom>
          <a:solidFill>
            <a:srgbClr val="ed6a5a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52" name="Shape 17"/>
          <p:cNvSpPr/>
          <p:nvPr/>
        </p:nvSpPr>
        <p:spPr>
          <a:xfrm>
            <a:off x="1014840" y="2720520"/>
            <a:ext cx="63720" cy="63720"/>
          </a:xfrm>
          <a:prstGeom prst="ellipse">
            <a:avLst/>
          </a:prstGeom>
          <a:solidFill>
            <a:srgbClr val="f4bf4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53" name="Shape 18"/>
          <p:cNvSpPr/>
          <p:nvPr/>
        </p:nvSpPr>
        <p:spPr>
          <a:xfrm>
            <a:off x="1124640" y="2720520"/>
            <a:ext cx="63720" cy="63720"/>
          </a:xfrm>
          <a:prstGeom prst="ellipse">
            <a:avLst/>
          </a:prstGeom>
          <a:solidFill>
            <a:srgbClr val="61c554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54" name="Shape 21"/>
          <p:cNvSpPr/>
          <p:nvPr/>
        </p:nvSpPr>
        <p:spPr>
          <a:xfrm>
            <a:off x="6931080" y="2487240"/>
            <a:ext cx="2102760" cy="1389600"/>
          </a:xfrm>
          <a:prstGeom prst="roundRect">
            <a:avLst>
              <a:gd name="adj" fmla="val 7895"/>
            </a:avLst>
          </a:prstGeom>
          <a:solidFill>
            <a:srgbClr val="0a2f62"/>
          </a:solidFill>
          <a:ln w="19050">
            <a:solidFill>
              <a:srgbClr val="5f83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55" name="Shape 22"/>
          <p:cNvSpPr/>
          <p:nvPr/>
        </p:nvSpPr>
        <p:spPr>
          <a:xfrm>
            <a:off x="7113960" y="2670120"/>
            <a:ext cx="1737000" cy="200880"/>
          </a:xfrm>
          <a:prstGeom prst="rect">
            <a:avLst/>
          </a:prstGeom>
          <a:solidFill>
            <a:srgbClr val="103e78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56" name="Shape 23"/>
          <p:cNvSpPr/>
          <p:nvPr/>
        </p:nvSpPr>
        <p:spPr>
          <a:xfrm>
            <a:off x="7178040" y="2720520"/>
            <a:ext cx="63720" cy="63720"/>
          </a:xfrm>
          <a:prstGeom prst="ellipse">
            <a:avLst/>
          </a:prstGeom>
          <a:solidFill>
            <a:srgbClr val="ed6a5a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57" name="Shape 24"/>
          <p:cNvSpPr/>
          <p:nvPr/>
        </p:nvSpPr>
        <p:spPr>
          <a:xfrm>
            <a:off x="7287840" y="2720520"/>
            <a:ext cx="63720" cy="63720"/>
          </a:xfrm>
          <a:prstGeom prst="ellipse">
            <a:avLst/>
          </a:prstGeom>
          <a:solidFill>
            <a:srgbClr val="f4bf4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58" name="Shape 25"/>
          <p:cNvSpPr/>
          <p:nvPr/>
        </p:nvSpPr>
        <p:spPr>
          <a:xfrm>
            <a:off x="7397640" y="2720520"/>
            <a:ext cx="63720" cy="63720"/>
          </a:xfrm>
          <a:prstGeom prst="ellipse">
            <a:avLst/>
          </a:prstGeom>
          <a:solidFill>
            <a:srgbClr val="61c554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59" name="Text 26"/>
          <p:cNvSpPr/>
          <p:nvPr/>
        </p:nvSpPr>
        <p:spPr>
          <a:xfrm>
            <a:off x="7205400" y="307224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68333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bfd0e5"/>
                </a:solidFill>
                <a:latin typeface="Inter"/>
                <a:ea typeface="Inter"/>
              </a:rPr>
              <a:t>IOT SENSORS / CARBON CREDITS VIEW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Text 27"/>
          <p:cNvSpPr/>
          <p:nvPr/>
        </p:nvSpPr>
        <p:spPr>
          <a:xfrm>
            <a:off x="7223760" y="3328560"/>
            <a:ext cx="1517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7222" lnSpcReduction="10000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8faac9"/>
                </a:solidFill>
                <a:latin typeface="Roboto"/>
                <a:ea typeface="Roboto"/>
              </a:rPr>
              <a:t>Replace this box with a readable screenshot / prototype image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Shape 28"/>
          <p:cNvSpPr/>
          <p:nvPr/>
        </p:nvSpPr>
        <p:spPr>
          <a:xfrm>
            <a:off x="9272160" y="2487240"/>
            <a:ext cx="1974600" cy="1389600"/>
          </a:xfrm>
          <a:prstGeom prst="roundRect">
            <a:avLst>
              <a:gd name="adj" fmla="val 7895"/>
            </a:avLst>
          </a:prstGeom>
          <a:solidFill>
            <a:srgbClr val="0a2f62"/>
          </a:solidFill>
          <a:ln w="19050">
            <a:solidFill>
              <a:srgbClr val="5f83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62" name="Shape 29"/>
          <p:cNvSpPr/>
          <p:nvPr/>
        </p:nvSpPr>
        <p:spPr>
          <a:xfrm>
            <a:off x="9455040" y="2670120"/>
            <a:ext cx="1608840" cy="200880"/>
          </a:xfrm>
          <a:prstGeom prst="rect">
            <a:avLst/>
          </a:prstGeom>
          <a:solidFill>
            <a:srgbClr val="103e78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63" name="Shape 30"/>
          <p:cNvSpPr/>
          <p:nvPr/>
        </p:nvSpPr>
        <p:spPr>
          <a:xfrm>
            <a:off x="9518760" y="2720520"/>
            <a:ext cx="63720" cy="63720"/>
          </a:xfrm>
          <a:prstGeom prst="ellipse">
            <a:avLst/>
          </a:prstGeom>
          <a:solidFill>
            <a:srgbClr val="ed6a5a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64" name="Shape 31"/>
          <p:cNvSpPr/>
          <p:nvPr/>
        </p:nvSpPr>
        <p:spPr>
          <a:xfrm>
            <a:off x="9628560" y="2720520"/>
            <a:ext cx="63720" cy="63720"/>
          </a:xfrm>
          <a:prstGeom prst="ellipse">
            <a:avLst/>
          </a:prstGeom>
          <a:solidFill>
            <a:srgbClr val="f4bf4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65" name="Shape 32"/>
          <p:cNvSpPr/>
          <p:nvPr/>
        </p:nvSpPr>
        <p:spPr>
          <a:xfrm>
            <a:off x="9738360" y="2720520"/>
            <a:ext cx="63720" cy="63720"/>
          </a:xfrm>
          <a:prstGeom prst="ellipse">
            <a:avLst/>
          </a:prstGeom>
          <a:solidFill>
            <a:srgbClr val="61c554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66" name="Text 33"/>
          <p:cNvSpPr/>
          <p:nvPr/>
        </p:nvSpPr>
        <p:spPr>
          <a:xfrm>
            <a:off x="9546480" y="3072240"/>
            <a:ext cx="1425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68333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bfd0e5"/>
                </a:solidFill>
                <a:latin typeface="Inter"/>
                <a:ea typeface="Inter"/>
              </a:rPr>
              <a:t>ORDER LIFECYCLE &amp; TRUST LEDGER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 34"/>
          <p:cNvSpPr/>
          <p:nvPr/>
        </p:nvSpPr>
        <p:spPr>
          <a:xfrm>
            <a:off x="9564480" y="3328560"/>
            <a:ext cx="1389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7222" lnSpcReduction="10000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8faac9"/>
                </a:solidFill>
                <a:latin typeface="Roboto"/>
                <a:ea typeface="Roboto"/>
              </a:rPr>
              <a:t>Replace this box with a readable screenshot / prototype image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Shape 35"/>
          <p:cNvSpPr/>
          <p:nvPr/>
        </p:nvSpPr>
        <p:spPr>
          <a:xfrm>
            <a:off x="6931080" y="4133160"/>
            <a:ext cx="4315680" cy="1371240"/>
          </a:xfrm>
          <a:prstGeom prst="roundRect">
            <a:avLst>
              <a:gd name="adj" fmla="val 9333"/>
            </a:avLst>
          </a:prstGeom>
          <a:solidFill>
            <a:srgbClr val="0d356b"/>
          </a:solidFill>
          <a:ln w="12700">
            <a:solidFill>
              <a:srgbClr val="214f8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69" name="Shape 36"/>
          <p:cNvSpPr/>
          <p:nvPr/>
        </p:nvSpPr>
        <p:spPr>
          <a:xfrm>
            <a:off x="7169040" y="4361760"/>
            <a:ext cx="712800" cy="255600"/>
          </a:xfrm>
          <a:prstGeom prst="roundRect">
            <a:avLst>
              <a:gd name="adj" fmla="val 50000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70" name="Text 37"/>
          <p:cNvSpPr/>
          <p:nvPr/>
        </p:nvSpPr>
        <p:spPr>
          <a:xfrm>
            <a:off x="7260480" y="4402800"/>
            <a:ext cx="5299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77" strike="noStrike">
                <a:solidFill>
                  <a:srgbClr val="ffffff"/>
                </a:solidFill>
                <a:latin typeface="Inter"/>
                <a:ea typeface="Inter"/>
              </a:rPr>
              <a:t>PROOF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 38"/>
          <p:cNvSpPr/>
          <p:nvPr/>
        </p:nvSpPr>
        <p:spPr>
          <a:xfrm>
            <a:off x="8046720" y="4352400"/>
            <a:ext cx="2880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68333" lnSpcReduction="1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80" spc="-1" strike="noStrike">
                <a:solidFill>
                  <a:srgbClr val="ffffff"/>
                </a:solidFill>
                <a:latin typeface="Inter"/>
                <a:ea typeface="Inter"/>
              </a:rPr>
              <a:t>A working Flask + MySQL dashboard with 9 live pages tying every layer together</a:t>
            </a:r>
            <a:endParaRPr b="0" lang="en-US" sz="12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 39"/>
          <p:cNvSpPr/>
          <p:nvPr/>
        </p:nvSpPr>
        <p:spPr>
          <a:xfrm>
            <a:off x="7169040" y="4736520"/>
            <a:ext cx="3675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75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c9d8ea"/>
                </a:solidFill>
                <a:latin typeface="Roboto"/>
                <a:ea typeface="Roboto"/>
              </a:rPr>
              <a:t>• </a:t>
            </a:r>
            <a:r>
              <a:rPr b="0" lang="en-US" sz="980" spc="-1" strike="noStrike">
                <a:solidFill>
                  <a:srgbClr val="c9d8ea"/>
                </a:solidFill>
                <a:latin typeface="Roboto"/>
                <a:ea typeface="Roboto"/>
              </a:rPr>
              <a:t>3 trained ML models, held out: intake classifier 95.6% accuracy, match ranker 71.0% / 0.725 AUC, forecaster +14.2% MAE vs. baseline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c9d8ea"/>
                </a:solidFill>
                <a:latin typeface="Roboto"/>
                <a:ea typeface="Roboto"/>
              </a:rPr>
              <a:t>• </a:t>
            </a:r>
            <a:r>
              <a:rPr b="0" lang="en-US" sz="980" spc="-1" strike="noStrike">
                <a:solidFill>
                  <a:srgbClr val="c9d8ea"/>
                </a:solidFill>
                <a:latin typeface="Roboto"/>
                <a:ea typeface="Roboto"/>
              </a:rPr>
              <a:t>Built all 6 core layers + 12 added modules (matching, pooling, trust, IoT, BRSR, carbon credits, geofencing, OR-Tools) with an automated pytest suite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c9d8ea"/>
                </a:solidFill>
                <a:latin typeface="Roboto"/>
                <a:ea typeface="Roboto"/>
              </a:rPr>
              <a:t>• </a:t>
            </a:r>
            <a:r>
              <a:rPr b="0" lang="en-US" sz="980" spc="-1" strike="noStrike">
                <a:solidFill>
                  <a:srgbClr val="c9d8ea"/>
                </a:solidFill>
                <a:latin typeface="Roboto"/>
                <a:ea typeface="Roboto"/>
              </a:rPr>
              <a:t>Demo: localhost:5000 - repo at F:\symbiolink (add public link/QR if allowed)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3" name="Picture 41" descr="dashboard_screenshot.png"/>
          <p:cNvPicPr/>
          <p:nvPr/>
        </p:nvPicPr>
        <p:blipFill>
          <a:blip r:embed="rId1"/>
          <a:stretch/>
        </p:blipFill>
        <p:spPr>
          <a:xfrm>
            <a:off x="1062000" y="2931120"/>
            <a:ext cx="5227560" cy="2473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ext 0"/>
          <p:cNvSpPr/>
          <p:nvPr/>
        </p:nvSpPr>
        <p:spPr>
          <a:xfrm>
            <a:off x="10561320" y="6117480"/>
            <a:ext cx="1051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5e6c84"/>
                </a:solidFill>
                <a:latin typeface="Inter"/>
                <a:ea typeface="Inter"/>
              </a:rPr>
              <a:t>07 / 08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1"/>
          <p:cNvSpPr/>
          <p:nvPr/>
        </p:nvSpPr>
        <p:spPr>
          <a:xfrm>
            <a:off x="781812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76" name="Shape 2"/>
          <p:cNvSpPr/>
          <p:nvPr/>
        </p:nvSpPr>
        <p:spPr>
          <a:xfrm>
            <a:off x="815652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77" name="Shape 3"/>
          <p:cNvSpPr/>
          <p:nvPr/>
        </p:nvSpPr>
        <p:spPr>
          <a:xfrm>
            <a:off x="849492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78" name="Shape 4"/>
          <p:cNvSpPr/>
          <p:nvPr/>
        </p:nvSpPr>
        <p:spPr>
          <a:xfrm>
            <a:off x="883296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79" name="Shape 5"/>
          <p:cNvSpPr/>
          <p:nvPr/>
        </p:nvSpPr>
        <p:spPr>
          <a:xfrm>
            <a:off x="917136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80" name="Shape 6"/>
          <p:cNvSpPr/>
          <p:nvPr/>
        </p:nvSpPr>
        <p:spPr>
          <a:xfrm>
            <a:off x="950976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81" name="Shape 7"/>
          <p:cNvSpPr/>
          <p:nvPr/>
        </p:nvSpPr>
        <p:spPr>
          <a:xfrm>
            <a:off x="984816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82" name="Shape 8"/>
          <p:cNvSpPr/>
          <p:nvPr/>
        </p:nvSpPr>
        <p:spPr>
          <a:xfrm>
            <a:off x="1018656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ccd7e4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83" name="Text 9"/>
          <p:cNvSpPr/>
          <p:nvPr/>
        </p:nvSpPr>
        <p:spPr>
          <a:xfrm>
            <a:off x="621720" y="987480"/>
            <a:ext cx="4752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9a4e"/>
                </a:solidFill>
                <a:latin typeface="Inter"/>
                <a:ea typeface="Inter"/>
              </a:rPr>
              <a:t>07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10"/>
          <p:cNvSpPr/>
          <p:nvPr/>
        </p:nvSpPr>
        <p:spPr>
          <a:xfrm>
            <a:off x="1124640" y="1152000"/>
            <a:ext cx="475560" cy="360"/>
          </a:xfrm>
          <a:prstGeom prst="line">
            <a:avLst/>
          </a:prstGeom>
          <a:ln w="25400">
            <a:solidFill>
              <a:srgbClr val="009a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85" name="Text 11"/>
          <p:cNvSpPr/>
          <p:nvPr/>
        </p:nvSpPr>
        <p:spPr>
          <a:xfrm>
            <a:off x="1691640" y="97848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128" strike="noStrike">
                <a:solidFill>
                  <a:srgbClr val="009a4e"/>
                </a:solidFill>
                <a:latin typeface="Inter"/>
                <a:ea typeface="Inter"/>
              </a:rPr>
              <a:t>PROVE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 12"/>
          <p:cNvSpPr/>
          <p:nvPr/>
        </p:nvSpPr>
        <p:spPr>
          <a:xfrm>
            <a:off x="621720" y="1307520"/>
            <a:ext cx="81835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0b2147"/>
                </a:solidFill>
                <a:latin typeface="Inter"/>
                <a:ea typeface="Inter"/>
              </a:rPr>
              <a:t>Impact + feasibility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13"/>
          <p:cNvSpPr/>
          <p:nvPr/>
        </p:nvSpPr>
        <p:spPr>
          <a:xfrm>
            <a:off x="640080" y="1892880"/>
            <a:ext cx="8960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e6c84"/>
                </a:solidFill>
                <a:latin typeface="Roboto"/>
                <a:ea typeface="Roboto"/>
              </a:rPr>
              <a:t>Quantify the value, show what you validated and acknowledge what still needs to be solved.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14"/>
          <p:cNvSpPr/>
          <p:nvPr/>
        </p:nvSpPr>
        <p:spPr>
          <a:xfrm>
            <a:off x="658440" y="2505600"/>
            <a:ext cx="2486880" cy="141696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ce5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89" name="Shape 15"/>
          <p:cNvSpPr/>
          <p:nvPr/>
        </p:nvSpPr>
        <p:spPr>
          <a:xfrm>
            <a:off x="658440" y="2505600"/>
            <a:ext cx="54360" cy="1416960"/>
          </a:xfrm>
          <a:prstGeom prst="rect">
            <a:avLst/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90" name="Text 16"/>
          <p:cNvSpPr/>
          <p:nvPr/>
        </p:nvSpPr>
        <p:spPr>
          <a:xfrm>
            <a:off x="859680" y="2670120"/>
            <a:ext cx="21668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062a61"/>
                </a:solidFill>
                <a:latin typeface="Inter"/>
                <a:ea typeface="Inter"/>
              </a:rPr>
              <a:t>95.6%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17"/>
          <p:cNvSpPr/>
          <p:nvPr/>
        </p:nvSpPr>
        <p:spPr>
          <a:xfrm>
            <a:off x="859680" y="3163680"/>
            <a:ext cx="216684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e6c84"/>
                </a:solidFill>
                <a:latin typeface="Roboto"/>
                <a:ea typeface="Roboto"/>
              </a:rPr>
              <a:t>Intake classifier accuracy parsing free-text &amp; Hinglish listings (held-out test set)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18"/>
          <p:cNvSpPr/>
          <p:nvPr/>
        </p:nvSpPr>
        <p:spPr>
          <a:xfrm>
            <a:off x="3364920" y="2505600"/>
            <a:ext cx="2486880" cy="141696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ce5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93" name="Shape 19"/>
          <p:cNvSpPr/>
          <p:nvPr/>
        </p:nvSpPr>
        <p:spPr>
          <a:xfrm>
            <a:off x="3364920" y="2505600"/>
            <a:ext cx="54360" cy="1416960"/>
          </a:xfrm>
          <a:prstGeom prst="rect">
            <a:avLst/>
          </a:prstGeom>
          <a:solidFill>
            <a:srgbClr val="123c7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94" name="Text 20"/>
          <p:cNvSpPr/>
          <p:nvPr/>
        </p:nvSpPr>
        <p:spPr>
          <a:xfrm>
            <a:off x="3566160" y="2670120"/>
            <a:ext cx="21668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062a61"/>
                </a:solidFill>
                <a:latin typeface="Inter"/>
                <a:ea typeface="Inter"/>
              </a:rPr>
              <a:t>3 ML models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21"/>
          <p:cNvSpPr/>
          <p:nvPr/>
        </p:nvSpPr>
        <p:spPr>
          <a:xfrm>
            <a:off x="3566160" y="3163680"/>
            <a:ext cx="216684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e6c84"/>
                </a:solidFill>
                <a:latin typeface="Roboto"/>
                <a:ea typeface="Roboto"/>
              </a:rPr>
              <a:t>Trained and validated on a 12-unit, ~20-listing synthetic dataset modeled on real cluster data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22"/>
          <p:cNvSpPr/>
          <p:nvPr/>
        </p:nvSpPr>
        <p:spPr>
          <a:xfrm>
            <a:off x="6071760" y="2505600"/>
            <a:ext cx="2486880" cy="141696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ce5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97" name="Shape 23"/>
          <p:cNvSpPr/>
          <p:nvPr/>
        </p:nvSpPr>
        <p:spPr>
          <a:xfrm>
            <a:off x="6071760" y="2505600"/>
            <a:ext cx="54360" cy="1416960"/>
          </a:xfrm>
          <a:prstGeom prst="rect">
            <a:avLst/>
          </a:prstGeom>
          <a:solidFill>
            <a:srgbClr val="d8a11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298" name="Text 24"/>
          <p:cNvSpPr/>
          <p:nvPr/>
        </p:nvSpPr>
        <p:spPr>
          <a:xfrm>
            <a:off x="6272640" y="2670120"/>
            <a:ext cx="21668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062a61"/>
                </a:solidFill>
                <a:latin typeface="Inter"/>
                <a:ea typeface="Inter"/>
              </a:rPr>
              <a:t>+14.2%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25"/>
          <p:cNvSpPr/>
          <p:nvPr/>
        </p:nvSpPr>
        <p:spPr>
          <a:xfrm>
            <a:off x="6272640" y="3163680"/>
            <a:ext cx="216684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e6c84"/>
                </a:solidFill>
                <a:latin typeface="Roboto"/>
                <a:ea typeface="Roboto"/>
              </a:rPr>
              <a:t>Forecast-regressor MAE improvement vs. moving-average baseline (accuracy gain, not cost - pricing still an estimate)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26"/>
          <p:cNvSpPr/>
          <p:nvPr/>
        </p:nvSpPr>
        <p:spPr>
          <a:xfrm>
            <a:off x="8778240" y="2505600"/>
            <a:ext cx="2468520" cy="141696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ce5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01" name="Shape 27"/>
          <p:cNvSpPr/>
          <p:nvPr/>
        </p:nvSpPr>
        <p:spPr>
          <a:xfrm>
            <a:off x="8778240" y="2505600"/>
            <a:ext cx="54360" cy="1416960"/>
          </a:xfrm>
          <a:prstGeom prst="rect">
            <a:avLst/>
          </a:prstGeom>
          <a:solidFill>
            <a:srgbClr val="2fc4b2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02" name="Text 28"/>
          <p:cNvSpPr/>
          <p:nvPr/>
        </p:nvSpPr>
        <p:spPr>
          <a:xfrm>
            <a:off x="8979480" y="2670120"/>
            <a:ext cx="21484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1111" lnSpcReduction="2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062a61"/>
                </a:solidFill>
                <a:latin typeface="Inter"/>
                <a:ea typeface="Inter"/>
              </a:rPr>
              <a:t>Real pilot partner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29"/>
          <p:cNvSpPr/>
          <p:nvPr/>
        </p:nvSpPr>
        <p:spPr>
          <a:xfrm>
            <a:off x="8979480" y="3163680"/>
            <a:ext cx="214848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e6c84"/>
                </a:solidFill>
                <a:latin typeface="Roboto"/>
                <a:ea typeface="Roboto"/>
              </a:rPr>
              <a:t>Onboard one real cluster (10-20 units), replace synthetic data, turn on live WhatsApp intake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30"/>
          <p:cNvSpPr/>
          <p:nvPr/>
        </p:nvSpPr>
        <p:spPr>
          <a:xfrm>
            <a:off x="658440" y="4187880"/>
            <a:ext cx="3401280" cy="1243080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05" name="Shape 31"/>
          <p:cNvSpPr/>
          <p:nvPr/>
        </p:nvSpPr>
        <p:spPr>
          <a:xfrm>
            <a:off x="859680" y="4370760"/>
            <a:ext cx="328680" cy="328680"/>
          </a:xfrm>
          <a:prstGeom prst="ellipse">
            <a:avLst/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06" name="Text 32"/>
          <p:cNvSpPr/>
          <p:nvPr/>
        </p:nvSpPr>
        <p:spPr>
          <a:xfrm>
            <a:off x="859680" y="4412160"/>
            <a:ext cx="32868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Inter"/>
                <a:ea typeface="Inter"/>
              </a:rPr>
              <a:t>F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33"/>
          <p:cNvSpPr/>
          <p:nvPr/>
        </p:nvSpPr>
        <p:spPr>
          <a:xfrm>
            <a:off x="1298520" y="4352400"/>
            <a:ext cx="2578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2147"/>
                </a:solidFill>
                <a:latin typeface="Inter"/>
                <a:ea typeface="Inter"/>
              </a:rPr>
              <a:t>FEASIBILITY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34"/>
          <p:cNvSpPr/>
          <p:nvPr/>
        </p:nvSpPr>
        <p:spPr>
          <a:xfrm>
            <a:off x="859680" y="4827960"/>
            <a:ext cx="29988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 fontScale="75000" lnSpcReduction="2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e6c84"/>
                </a:solidFill>
                <a:latin typeface="Roboto"/>
                <a:ea typeface="Roboto"/>
              </a:rPr>
              <a:t>Phased 3-stage rollout: MVP (0-3mo, web-form intake + match ranker live) → Pilot (3-6mo, one real cluster partner, live Twilio WhatsApp, retrain on real data) → Scale (6-12mo, photo classification, carbon credits, IoT/GPS). Every layer is already built and tested end-to-end.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35"/>
          <p:cNvSpPr/>
          <p:nvPr/>
        </p:nvSpPr>
        <p:spPr>
          <a:xfrm>
            <a:off x="4260960" y="4187880"/>
            <a:ext cx="3401280" cy="1243080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10" name="Shape 36"/>
          <p:cNvSpPr/>
          <p:nvPr/>
        </p:nvSpPr>
        <p:spPr>
          <a:xfrm>
            <a:off x="4462200" y="4370760"/>
            <a:ext cx="328680" cy="328680"/>
          </a:xfrm>
          <a:prstGeom prst="ellipse">
            <a:avLst/>
          </a:prstGeom>
          <a:solidFill>
            <a:srgbClr val="123c7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11" name="Text 37"/>
          <p:cNvSpPr/>
          <p:nvPr/>
        </p:nvSpPr>
        <p:spPr>
          <a:xfrm>
            <a:off x="4462200" y="4412160"/>
            <a:ext cx="32868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Inter"/>
                <a:ea typeface="Inter"/>
              </a:rPr>
              <a:t>S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 38"/>
          <p:cNvSpPr/>
          <p:nvPr/>
        </p:nvSpPr>
        <p:spPr>
          <a:xfrm>
            <a:off x="4901040" y="4352400"/>
            <a:ext cx="2578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2147"/>
                </a:solidFill>
                <a:latin typeface="Inter"/>
                <a:ea typeface="Inter"/>
              </a:rPr>
              <a:t>SCALABILITY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 39"/>
          <p:cNvSpPr/>
          <p:nvPr/>
        </p:nvSpPr>
        <p:spPr>
          <a:xfrm>
            <a:off x="4462200" y="4827960"/>
            <a:ext cx="29988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 fontScale="75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e6c84"/>
                </a:solidFill>
                <a:latin typeface="Roboto"/>
                <a:ea typeface="Roboto"/>
              </a:rPr>
              <a:t>The rules-based graph engine + trained ML layer generalizes to any documented industrial cluster. Density modeling shows ~30% unit adoption (~18 of 60 units) is the threshold where 2-3 hop chains become reliably findable.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40"/>
          <p:cNvSpPr/>
          <p:nvPr/>
        </p:nvSpPr>
        <p:spPr>
          <a:xfrm>
            <a:off x="7863840" y="4187880"/>
            <a:ext cx="3382920" cy="1243080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be4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15" name="Shape 41"/>
          <p:cNvSpPr/>
          <p:nvPr/>
        </p:nvSpPr>
        <p:spPr>
          <a:xfrm>
            <a:off x="8065080" y="4370760"/>
            <a:ext cx="328680" cy="32868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16" name="Text 42"/>
          <p:cNvSpPr/>
          <p:nvPr/>
        </p:nvSpPr>
        <p:spPr>
          <a:xfrm>
            <a:off x="8065080" y="4412160"/>
            <a:ext cx="32868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Inter"/>
                <a:ea typeface="Inter"/>
              </a:rPr>
              <a:t>R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 43"/>
          <p:cNvSpPr/>
          <p:nvPr/>
        </p:nvSpPr>
        <p:spPr>
          <a:xfrm>
            <a:off x="8503920" y="4352400"/>
            <a:ext cx="25599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2147"/>
                </a:solidFill>
                <a:latin typeface="Inter"/>
                <a:ea typeface="Inter"/>
              </a:rPr>
              <a:t>RISKS + ETHICS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 44"/>
          <p:cNvSpPr/>
          <p:nvPr/>
        </p:nvSpPr>
        <p:spPr>
          <a:xfrm>
            <a:off x="8065080" y="4827960"/>
            <a:ext cx="2980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 fontScale="75000" lnSpcReduction="2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e6c84"/>
                </a:solidFill>
                <a:latin typeface="Roboto"/>
                <a:ea typeface="Roboto"/>
              </a:rPr>
              <a:t>Reference prices/CO2e factors are estimates, not certified data  •  Synthetic training data could carry bias  •  Mitigation: plain-language reason on every score, auto-revert to heuristics below accuracy thresholds, photo results stay human-confirmed until validated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45"/>
          <p:cNvSpPr/>
          <p:nvPr/>
        </p:nvSpPr>
        <p:spPr>
          <a:xfrm>
            <a:off x="658440" y="5669280"/>
            <a:ext cx="606960" cy="72720"/>
          </a:xfrm>
          <a:prstGeom prst="rect">
            <a:avLst/>
          </a:prstGeom>
          <a:solidFill>
            <a:srgbClr val="e5243b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20" name="Shape 46"/>
          <p:cNvSpPr/>
          <p:nvPr/>
        </p:nvSpPr>
        <p:spPr>
          <a:xfrm>
            <a:off x="1282320" y="5669280"/>
            <a:ext cx="606960" cy="72720"/>
          </a:xfrm>
          <a:prstGeom prst="rect">
            <a:avLst/>
          </a:prstGeom>
          <a:solidFill>
            <a:srgbClr val="dda63a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21" name="Shape 47"/>
          <p:cNvSpPr/>
          <p:nvPr/>
        </p:nvSpPr>
        <p:spPr>
          <a:xfrm>
            <a:off x="1906200" y="5669280"/>
            <a:ext cx="606960" cy="72720"/>
          </a:xfrm>
          <a:prstGeom prst="rect">
            <a:avLst/>
          </a:prstGeom>
          <a:solidFill>
            <a:srgbClr val="4c9f38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22" name="Shape 48"/>
          <p:cNvSpPr/>
          <p:nvPr/>
        </p:nvSpPr>
        <p:spPr>
          <a:xfrm>
            <a:off x="2529720" y="5669280"/>
            <a:ext cx="606960" cy="72720"/>
          </a:xfrm>
          <a:prstGeom prst="rect">
            <a:avLst/>
          </a:prstGeom>
          <a:solidFill>
            <a:srgbClr val="c5192d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23" name="Shape 49"/>
          <p:cNvSpPr/>
          <p:nvPr/>
        </p:nvSpPr>
        <p:spPr>
          <a:xfrm>
            <a:off x="3153600" y="5669280"/>
            <a:ext cx="606960" cy="72720"/>
          </a:xfrm>
          <a:prstGeom prst="rect">
            <a:avLst/>
          </a:prstGeom>
          <a:solidFill>
            <a:srgbClr val="ff3a21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24" name="Shape 50"/>
          <p:cNvSpPr/>
          <p:nvPr/>
        </p:nvSpPr>
        <p:spPr>
          <a:xfrm>
            <a:off x="3777480" y="5669280"/>
            <a:ext cx="606960" cy="72720"/>
          </a:xfrm>
          <a:prstGeom prst="rect">
            <a:avLst/>
          </a:prstGeom>
          <a:solidFill>
            <a:srgbClr val="26bde2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25" name="Shape 51"/>
          <p:cNvSpPr/>
          <p:nvPr/>
        </p:nvSpPr>
        <p:spPr>
          <a:xfrm>
            <a:off x="4401360" y="5669280"/>
            <a:ext cx="606960" cy="72720"/>
          </a:xfrm>
          <a:prstGeom prst="rect">
            <a:avLst/>
          </a:prstGeom>
          <a:solidFill>
            <a:srgbClr val="fcc30b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26" name="Shape 52"/>
          <p:cNvSpPr/>
          <p:nvPr/>
        </p:nvSpPr>
        <p:spPr>
          <a:xfrm>
            <a:off x="5025240" y="5669280"/>
            <a:ext cx="606960" cy="72720"/>
          </a:xfrm>
          <a:prstGeom prst="rect">
            <a:avLst/>
          </a:prstGeom>
          <a:solidFill>
            <a:srgbClr val="a21942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27" name="Shape 53"/>
          <p:cNvSpPr/>
          <p:nvPr/>
        </p:nvSpPr>
        <p:spPr>
          <a:xfrm>
            <a:off x="5649120" y="5669280"/>
            <a:ext cx="606960" cy="72720"/>
          </a:xfrm>
          <a:prstGeom prst="rect">
            <a:avLst/>
          </a:prstGeom>
          <a:solidFill>
            <a:srgbClr val="fd6925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28" name="Shape 54"/>
          <p:cNvSpPr/>
          <p:nvPr/>
        </p:nvSpPr>
        <p:spPr>
          <a:xfrm>
            <a:off x="6273000" y="5669280"/>
            <a:ext cx="606960" cy="72720"/>
          </a:xfrm>
          <a:prstGeom prst="rect">
            <a:avLst/>
          </a:prstGeom>
          <a:solidFill>
            <a:srgbClr val="dd1367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29" name="Shape 55"/>
          <p:cNvSpPr/>
          <p:nvPr/>
        </p:nvSpPr>
        <p:spPr>
          <a:xfrm>
            <a:off x="6896880" y="5669280"/>
            <a:ext cx="606960" cy="72720"/>
          </a:xfrm>
          <a:prstGeom prst="rect">
            <a:avLst/>
          </a:prstGeom>
          <a:solidFill>
            <a:srgbClr val="fd9d24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30" name="Shape 56"/>
          <p:cNvSpPr/>
          <p:nvPr/>
        </p:nvSpPr>
        <p:spPr>
          <a:xfrm>
            <a:off x="7520400" y="5669280"/>
            <a:ext cx="606960" cy="72720"/>
          </a:xfrm>
          <a:prstGeom prst="rect">
            <a:avLst/>
          </a:prstGeom>
          <a:solidFill>
            <a:srgbClr val="bf8b2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31" name="Shape 57"/>
          <p:cNvSpPr/>
          <p:nvPr/>
        </p:nvSpPr>
        <p:spPr>
          <a:xfrm>
            <a:off x="8144280" y="5669280"/>
            <a:ext cx="606960" cy="72720"/>
          </a:xfrm>
          <a:prstGeom prst="rect">
            <a:avLst/>
          </a:prstGeom>
          <a:solidFill>
            <a:srgbClr val="3f7e44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32" name="Shape 58"/>
          <p:cNvSpPr/>
          <p:nvPr/>
        </p:nvSpPr>
        <p:spPr>
          <a:xfrm>
            <a:off x="8768160" y="5669280"/>
            <a:ext cx="606960" cy="72720"/>
          </a:xfrm>
          <a:prstGeom prst="rect">
            <a:avLst/>
          </a:prstGeom>
          <a:solidFill>
            <a:srgbClr val="0a97d9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33" name="Shape 59"/>
          <p:cNvSpPr/>
          <p:nvPr/>
        </p:nvSpPr>
        <p:spPr>
          <a:xfrm>
            <a:off x="9392040" y="5669280"/>
            <a:ext cx="606960" cy="72720"/>
          </a:xfrm>
          <a:prstGeom prst="rect">
            <a:avLst/>
          </a:prstGeom>
          <a:solidFill>
            <a:srgbClr val="56c02b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34" name="Shape 60"/>
          <p:cNvSpPr/>
          <p:nvPr/>
        </p:nvSpPr>
        <p:spPr>
          <a:xfrm>
            <a:off x="10015920" y="5669280"/>
            <a:ext cx="606960" cy="72720"/>
          </a:xfrm>
          <a:prstGeom prst="rect">
            <a:avLst/>
          </a:prstGeom>
          <a:solidFill>
            <a:srgbClr val="00689d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35" name="Shape 61"/>
          <p:cNvSpPr/>
          <p:nvPr/>
        </p:nvSpPr>
        <p:spPr>
          <a:xfrm>
            <a:off x="10639800" y="5669280"/>
            <a:ext cx="606960" cy="72720"/>
          </a:xfrm>
          <a:prstGeom prst="rect">
            <a:avLst/>
          </a:prstGeom>
          <a:solidFill>
            <a:srgbClr val="19486a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Text 0"/>
          <p:cNvSpPr/>
          <p:nvPr/>
        </p:nvSpPr>
        <p:spPr>
          <a:xfrm>
            <a:off x="10561320" y="6117480"/>
            <a:ext cx="1051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b8cae0"/>
                </a:solidFill>
                <a:latin typeface="Inter"/>
                <a:ea typeface="Inter"/>
              </a:rPr>
              <a:t>08 / 08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Shape 1"/>
          <p:cNvSpPr/>
          <p:nvPr/>
        </p:nvSpPr>
        <p:spPr>
          <a:xfrm>
            <a:off x="781812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38" name="Shape 2"/>
          <p:cNvSpPr/>
          <p:nvPr/>
        </p:nvSpPr>
        <p:spPr>
          <a:xfrm>
            <a:off x="815652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39" name="Shape 3"/>
          <p:cNvSpPr/>
          <p:nvPr/>
        </p:nvSpPr>
        <p:spPr>
          <a:xfrm>
            <a:off x="849492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40" name="Shape 4"/>
          <p:cNvSpPr/>
          <p:nvPr/>
        </p:nvSpPr>
        <p:spPr>
          <a:xfrm>
            <a:off x="883296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41" name="Shape 5"/>
          <p:cNvSpPr/>
          <p:nvPr/>
        </p:nvSpPr>
        <p:spPr>
          <a:xfrm>
            <a:off x="917136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42" name="Shape 6"/>
          <p:cNvSpPr/>
          <p:nvPr/>
        </p:nvSpPr>
        <p:spPr>
          <a:xfrm>
            <a:off x="950976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43" name="Shape 7"/>
          <p:cNvSpPr/>
          <p:nvPr/>
        </p:nvSpPr>
        <p:spPr>
          <a:xfrm>
            <a:off x="984816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49698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44" name="Shape 8"/>
          <p:cNvSpPr/>
          <p:nvPr/>
        </p:nvSpPr>
        <p:spPr>
          <a:xfrm>
            <a:off x="10186560" y="6144840"/>
            <a:ext cx="273960" cy="50040"/>
          </a:xfrm>
          <a:prstGeom prst="roundRect">
            <a:avLst>
              <a:gd name="adj" fmla="val 45455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7920" bIns="-7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45" name="Text 9"/>
          <p:cNvSpPr/>
          <p:nvPr/>
        </p:nvSpPr>
        <p:spPr>
          <a:xfrm>
            <a:off x="621720" y="987480"/>
            <a:ext cx="4752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9a4e"/>
                </a:solidFill>
                <a:latin typeface="Inter"/>
                <a:ea typeface="Inter"/>
              </a:rPr>
              <a:t>08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Shape 10"/>
          <p:cNvSpPr/>
          <p:nvPr/>
        </p:nvSpPr>
        <p:spPr>
          <a:xfrm>
            <a:off x="1124640" y="1152000"/>
            <a:ext cx="475560" cy="360"/>
          </a:xfrm>
          <a:prstGeom prst="line">
            <a:avLst/>
          </a:prstGeom>
          <a:ln w="25400">
            <a:solidFill>
              <a:srgbClr val="009a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47" name="Text 11"/>
          <p:cNvSpPr/>
          <p:nvPr/>
        </p:nvSpPr>
        <p:spPr>
          <a:xfrm>
            <a:off x="1691640" y="97848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128" strike="noStrike">
                <a:solidFill>
                  <a:srgbClr val="009a4e"/>
                </a:solidFill>
                <a:latin typeface="Inter"/>
                <a:ea typeface="Inter"/>
              </a:rPr>
              <a:t>CLOSE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Text 12"/>
          <p:cNvSpPr/>
          <p:nvPr/>
        </p:nvSpPr>
        <p:spPr>
          <a:xfrm>
            <a:off x="621720" y="1307520"/>
            <a:ext cx="81835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Inter"/>
                <a:ea typeface="Inter"/>
              </a:rPr>
              <a:t>Why this project should win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Text 13"/>
          <p:cNvSpPr/>
          <p:nvPr/>
        </p:nvSpPr>
        <p:spPr>
          <a:xfrm>
            <a:off x="640080" y="1892880"/>
            <a:ext cx="8960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c9d8ea"/>
                </a:solidFill>
                <a:latin typeface="Roboto"/>
                <a:ea typeface="Roboto"/>
              </a:rPr>
              <a:t>End with evidence, not adjectives. Make the judges remember one clear reason to choose you.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Text 14"/>
          <p:cNvSpPr/>
          <p:nvPr/>
        </p:nvSpPr>
        <p:spPr>
          <a:xfrm>
            <a:off x="658440" y="2468880"/>
            <a:ext cx="1874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09" strike="noStrike">
                <a:solidFill>
                  <a:srgbClr val="009a4e"/>
                </a:solidFill>
                <a:latin typeface="Inter"/>
                <a:ea typeface="Inter"/>
              </a:rPr>
              <a:t>OUR STRONGEST CASE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Text 15"/>
          <p:cNvSpPr/>
          <p:nvPr/>
        </p:nvSpPr>
        <p:spPr>
          <a:xfrm>
            <a:off x="658440" y="2816280"/>
            <a:ext cx="6629040" cy="84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1111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Inter"/>
                <a:ea typeface="Inter"/>
              </a:rPr>
              <a:t>SymbioLink AI turns a documented 11-exchange gap across 60+ facilities into a searchable, trust-verified, multi-hop market.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Shape 16"/>
          <p:cNvSpPr/>
          <p:nvPr/>
        </p:nvSpPr>
        <p:spPr>
          <a:xfrm>
            <a:off x="658440" y="3822120"/>
            <a:ext cx="2139480" cy="1371240"/>
          </a:xfrm>
          <a:prstGeom prst="roundRect">
            <a:avLst>
              <a:gd name="adj" fmla="val 9333"/>
            </a:avLst>
          </a:prstGeom>
          <a:solidFill>
            <a:srgbClr val="0c356b"/>
          </a:solidFill>
          <a:ln w="12700">
            <a:solidFill>
              <a:srgbClr val="214f8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53" name="Shape 17"/>
          <p:cNvSpPr/>
          <p:nvPr/>
        </p:nvSpPr>
        <p:spPr>
          <a:xfrm>
            <a:off x="859680" y="4005000"/>
            <a:ext cx="328680" cy="328680"/>
          </a:xfrm>
          <a:prstGeom prst="ellipse">
            <a:avLst/>
          </a:prstGeom>
          <a:solidFill>
            <a:srgbClr val="2d5e9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54" name="Text 18"/>
          <p:cNvSpPr/>
          <p:nvPr/>
        </p:nvSpPr>
        <p:spPr>
          <a:xfrm>
            <a:off x="859680" y="4046400"/>
            <a:ext cx="32868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Inter"/>
                <a:ea typeface="Inter"/>
              </a:rPr>
              <a:t>01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Text 19"/>
          <p:cNvSpPr/>
          <p:nvPr/>
        </p:nvSpPr>
        <p:spPr>
          <a:xfrm>
            <a:off x="1298520" y="3986640"/>
            <a:ext cx="1316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6666" lnSpcReduction="2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Inter"/>
                <a:ea typeface="Inter"/>
              </a:rPr>
              <a:t>REAL PROBLEM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Text 20"/>
          <p:cNvSpPr/>
          <p:nvPr/>
        </p:nvSpPr>
        <p:spPr>
          <a:xfrm>
            <a:off x="859680" y="4462200"/>
            <a:ext cx="17370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 fontScale="87222" lnSpcReduction="2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9d8ea"/>
                </a:solidFill>
                <a:latin typeface="Roboto"/>
                <a:ea typeface="Roboto"/>
              </a:rPr>
              <a:t>Nanjangud cluster study: 99.5% on-site recovery, only 11 inter-firm exchanges across 60+ facilities - the gap is discovery, not willingness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Shape 21"/>
          <p:cNvSpPr/>
          <p:nvPr/>
        </p:nvSpPr>
        <p:spPr>
          <a:xfrm>
            <a:off x="3072240" y="3822120"/>
            <a:ext cx="2139480" cy="1371240"/>
          </a:xfrm>
          <a:prstGeom prst="roundRect">
            <a:avLst>
              <a:gd name="adj" fmla="val 9333"/>
            </a:avLst>
          </a:prstGeom>
          <a:solidFill>
            <a:srgbClr val="0c356b"/>
          </a:solidFill>
          <a:ln w="12700">
            <a:solidFill>
              <a:srgbClr val="214f8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58" name="Shape 22"/>
          <p:cNvSpPr/>
          <p:nvPr/>
        </p:nvSpPr>
        <p:spPr>
          <a:xfrm>
            <a:off x="3273480" y="4005000"/>
            <a:ext cx="328680" cy="328680"/>
          </a:xfrm>
          <a:prstGeom prst="ellipse">
            <a:avLst/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59" name="Text 23"/>
          <p:cNvSpPr/>
          <p:nvPr/>
        </p:nvSpPr>
        <p:spPr>
          <a:xfrm>
            <a:off x="3273480" y="4046400"/>
            <a:ext cx="32868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Inter"/>
                <a:ea typeface="Inter"/>
              </a:rPr>
              <a:t>02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Text 24"/>
          <p:cNvSpPr/>
          <p:nvPr/>
        </p:nvSpPr>
        <p:spPr>
          <a:xfrm>
            <a:off x="3712320" y="3986640"/>
            <a:ext cx="1316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Inter"/>
                <a:ea typeface="Inter"/>
              </a:rPr>
              <a:t>REAL PROOF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Text 25"/>
          <p:cNvSpPr/>
          <p:nvPr/>
        </p:nvSpPr>
        <p:spPr>
          <a:xfrm>
            <a:off x="3273480" y="4462200"/>
            <a:ext cx="17370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 fontScale="81111" lnSpcReduction="1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9d8ea"/>
                </a:solidFill>
                <a:latin typeface="Roboto"/>
                <a:ea typeface="Roboto"/>
              </a:rPr>
              <a:t>Full 6-layer + 12-module architecture working end-to-end: 9 live dashboard pages, 3 trained ML models with held-out validation, automated test suite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Shape 26"/>
          <p:cNvSpPr/>
          <p:nvPr/>
        </p:nvSpPr>
        <p:spPr>
          <a:xfrm>
            <a:off x="5486400" y="3822120"/>
            <a:ext cx="2139480" cy="1371240"/>
          </a:xfrm>
          <a:prstGeom prst="roundRect">
            <a:avLst>
              <a:gd name="adj" fmla="val 9333"/>
            </a:avLst>
          </a:prstGeom>
          <a:solidFill>
            <a:srgbClr val="0c356b"/>
          </a:solidFill>
          <a:ln w="12700">
            <a:solidFill>
              <a:srgbClr val="214f8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63" name="Shape 27"/>
          <p:cNvSpPr/>
          <p:nvPr/>
        </p:nvSpPr>
        <p:spPr>
          <a:xfrm>
            <a:off x="5687640" y="4005000"/>
            <a:ext cx="328680" cy="328680"/>
          </a:xfrm>
          <a:prstGeom prst="ellipse">
            <a:avLst/>
          </a:prstGeom>
          <a:solidFill>
            <a:srgbClr val="2d5e9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64" name="Text 28"/>
          <p:cNvSpPr/>
          <p:nvPr/>
        </p:nvSpPr>
        <p:spPr>
          <a:xfrm>
            <a:off x="5687640" y="4046400"/>
            <a:ext cx="32868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Inter"/>
                <a:ea typeface="Inter"/>
              </a:rPr>
              <a:t>03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Text 29"/>
          <p:cNvSpPr/>
          <p:nvPr/>
        </p:nvSpPr>
        <p:spPr>
          <a:xfrm>
            <a:off x="6126480" y="3986640"/>
            <a:ext cx="1316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Inter"/>
                <a:ea typeface="Inter"/>
              </a:rPr>
              <a:t>REAL IMPACT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Text 30"/>
          <p:cNvSpPr/>
          <p:nvPr/>
        </p:nvSpPr>
        <p:spPr>
          <a:xfrm>
            <a:off x="5687640" y="4462200"/>
            <a:ext cx="17370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 fontScale="81111" lnSpcReduction="2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9d8ea"/>
                </a:solidFill>
                <a:latin typeface="Roboto"/>
                <a:ea typeface="Roboto"/>
              </a:rPr>
              <a:t>Modeled adoption curve shows ~30% cluster adoption unlocks multi-hop matching's full value - a phased rollout keeps near-term execution realistic for a student team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Shape 31"/>
          <p:cNvSpPr/>
          <p:nvPr/>
        </p:nvSpPr>
        <p:spPr>
          <a:xfrm>
            <a:off x="7992000" y="2487240"/>
            <a:ext cx="3254760" cy="2706120"/>
          </a:xfrm>
          <a:prstGeom prst="roundRect">
            <a:avLst>
              <a:gd name="adj" fmla="val 5405"/>
            </a:avLst>
          </a:prstGeom>
          <a:solidFill>
            <a:srgbClr val="0d356b"/>
          </a:solidFill>
          <a:ln w="12700">
            <a:solidFill>
              <a:srgbClr val="214f8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68" name="Shape 32"/>
          <p:cNvSpPr/>
          <p:nvPr/>
        </p:nvSpPr>
        <p:spPr>
          <a:xfrm>
            <a:off x="8247960" y="2743200"/>
            <a:ext cx="1115280" cy="255600"/>
          </a:xfrm>
          <a:prstGeom prst="roundRect">
            <a:avLst>
              <a:gd name="adj" fmla="val 50000"/>
            </a:avLst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69" name="Text 33"/>
          <p:cNvSpPr/>
          <p:nvPr/>
        </p:nvSpPr>
        <p:spPr>
          <a:xfrm>
            <a:off x="8339400" y="2784240"/>
            <a:ext cx="9324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77" strike="noStrike">
                <a:solidFill>
                  <a:srgbClr val="ffffff"/>
                </a:solidFill>
                <a:latin typeface="Inter"/>
                <a:ea typeface="Inter"/>
              </a:rPr>
              <a:t>NEXT 90 DAYS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Shape 34"/>
          <p:cNvSpPr/>
          <p:nvPr/>
        </p:nvSpPr>
        <p:spPr>
          <a:xfrm>
            <a:off x="8247960" y="3255120"/>
            <a:ext cx="383760" cy="383760"/>
          </a:xfrm>
          <a:prstGeom prst="ellipse">
            <a:avLst/>
          </a:prstGeom>
          <a:solidFill>
            <a:srgbClr val="123c7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71" name="Text 35"/>
          <p:cNvSpPr/>
          <p:nvPr/>
        </p:nvSpPr>
        <p:spPr>
          <a:xfrm>
            <a:off x="8266320" y="3346560"/>
            <a:ext cx="3470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Inter"/>
                <a:ea typeface="Inter"/>
              </a:rPr>
              <a:t>01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Text 36"/>
          <p:cNvSpPr/>
          <p:nvPr/>
        </p:nvSpPr>
        <p:spPr>
          <a:xfrm>
            <a:off x="8759880" y="3291840"/>
            <a:ext cx="2084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7222" lnSpcReduction="2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pc="-1" strike="noStrike">
                <a:solidFill>
                  <a:srgbClr val="ffffff"/>
                </a:solidFill>
                <a:latin typeface="Roboto"/>
                <a:ea typeface="Roboto"/>
              </a:rPr>
              <a:t>Secure one real pilot cluster partner and define onboarding scope</a:t>
            </a:r>
            <a:endParaRPr b="0" lang="en-US" sz="10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Shape 37"/>
          <p:cNvSpPr/>
          <p:nvPr/>
        </p:nvSpPr>
        <p:spPr>
          <a:xfrm>
            <a:off x="8430480" y="3639240"/>
            <a:ext cx="360" cy="182880"/>
          </a:xfrm>
          <a:prstGeom prst="line">
            <a:avLst/>
          </a:prstGeom>
          <a:ln w="15240">
            <a:solidFill>
              <a:srgbClr val="5477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74" name="Shape 38"/>
          <p:cNvSpPr/>
          <p:nvPr/>
        </p:nvSpPr>
        <p:spPr>
          <a:xfrm>
            <a:off x="8247960" y="3803760"/>
            <a:ext cx="383760" cy="383760"/>
          </a:xfrm>
          <a:prstGeom prst="ellipse">
            <a:avLst/>
          </a:prstGeom>
          <a:solidFill>
            <a:srgbClr val="123c7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75" name="Text 39"/>
          <p:cNvSpPr/>
          <p:nvPr/>
        </p:nvSpPr>
        <p:spPr>
          <a:xfrm>
            <a:off x="8266320" y="3895200"/>
            <a:ext cx="3470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Inter"/>
                <a:ea typeface="Inter"/>
              </a:rPr>
              <a:t>02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Text 40"/>
          <p:cNvSpPr/>
          <p:nvPr/>
        </p:nvSpPr>
        <p:spPr>
          <a:xfrm>
            <a:off x="8759880" y="3840480"/>
            <a:ext cx="2084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5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pc="-1" strike="noStrike">
                <a:solidFill>
                  <a:srgbClr val="ffffff"/>
                </a:solidFill>
                <a:latin typeface="Roboto"/>
                <a:ea typeface="Roboto"/>
              </a:rPr>
              <a:t>Wire up live Twilio WhatsApp intake; retrain intake classifier + match ranker on real data</a:t>
            </a:r>
            <a:endParaRPr b="0" lang="en-US" sz="10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Shape 41"/>
          <p:cNvSpPr/>
          <p:nvPr/>
        </p:nvSpPr>
        <p:spPr>
          <a:xfrm>
            <a:off x="8430480" y="4187880"/>
            <a:ext cx="360" cy="182880"/>
          </a:xfrm>
          <a:prstGeom prst="line">
            <a:avLst/>
          </a:prstGeom>
          <a:ln w="15240">
            <a:solidFill>
              <a:srgbClr val="5477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78" name="Shape 42"/>
          <p:cNvSpPr/>
          <p:nvPr/>
        </p:nvSpPr>
        <p:spPr>
          <a:xfrm>
            <a:off x="8247960" y="4352400"/>
            <a:ext cx="383760" cy="383760"/>
          </a:xfrm>
          <a:prstGeom prst="ellipse">
            <a:avLst/>
          </a:prstGeom>
          <a:solidFill>
            <a:srgbClr val="009a4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79" name="Text 43"/>
          <p:cNvSpPr/>
          <p:nvPr/>
        </p:nvSpPr>
        <p:spPr>
          <a:xfrm>
            <a:off x="8266320" y="4443840"/>
            <a:ext cx="3470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Inter"/>
                <a:ea typeface="Inter"/>
              </a:rPr>
              <a:t>03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Text 44"/>
          <p:cNvSpPr/>
          <p:nvPr/>
        </p:nvSpPr>
        <p:spPr>
          <a:xfrm>
            <a:off x="8759880" y="4389120"/>
            <a:ext cx="20844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pc="-1" strike="noStrike">
                <a:solidFill>
                  <a:srgbClr val="ffffff"/>
                </a:solidFill>
                <a:latin typeface="Roboto"/>
                <a:ea typeface="Roboto"/>
              </a:rPr>
              <a:t>Onboard 10-20 real units, replace synthetic data, track first exchanges</a:t>
            </a:r>
            <a:endParaRPr b="0" lang="en-US" sz="10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Shape 45"/>
          <p:cNvSpPr/>
          <p:nvPr/>
        </p:nvSpPr>
        <p:spPr>
          <a:xfrm>
            <a:off x="8211240" y="4827960"/>
            <a:ext cx="2560320" cy="360"/>
          </a:xfrm>
          <a:prstGeom prst="line">
            <a:avLst/>
          </a:prstGeom>
          <a:ln w="19050">
            <a:solidFill>
              <a:srgbClr val="009a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Roboto"/>
            </a:endParaRPr>
          </a:p>
        </p:txBody>
      </p:sp>
      <p:sp>
        <p:nvSpPr>
          <p:cNvPr id="382" name="Text 46"/>
          <p:cNvSpPr/>
          <p:nvPr/>
        </p:nvSpPr>
        <p:spPr>
          <a:xfrm>
            <a:off x="658440" y="5669280"/>
            <a:ext cx="1298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Inter"/>
                <a:ea typeface="Inter"/>
              </a:rPr>
              <a:t>THANK YOU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Text 47"/>
          <p:cNvSpPr/>
          <p:nvPr/>
        </p:nvSpPr>
        <p:spPr>
          <a:xfrm>
            <a:off x="2331720" y="5687640"/>
            <a:ext cx="3565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7222" lnSpcReduction="1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a9bcd4"/>
                </a:solidFill>
                <a:latin typeface="Roboto"/>
                <a:ea typeface="Roboto"/>
              </a:rPr>
              <a:t>SymbioLink AI  ·  Team Chaos  ·  Demo: localhost:5000 (repo: F:\symbiolink)</a:t>
            </a:r>
            <a:endParaRPr b="0" lang="en-US" sz="939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 pitchFamily="0" charset="1"/>
        <a:ea typeface=""/>
        <a:cs typeface=""/>
      </a:majorFont>
      <a:minorFont>
        <a:latin typeface="Roboto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 pitchFamily="0" charset="1"/>
        <a:ea typeface=""/>
        <a:cs typeface=""/>
      </a:majorFont>
      <a:minorFont>
        <a:latin typeface="Roboto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 pitchFamily="0" charset="1"/>
        <a:ea typeface=""/>
        <a:cs typeface=""/>
      </a:majorFont>
      <a:minorFont>
        <a:latin typeface="Roboto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StudAI One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2026-08-27T12:12:13Z</dcterms:created>
  <dc:creator>StudAI One</dc:creator>
  <dc:description/>
  <dc:language>en-US</dc:language>
  <cp:lastModifiedBy>StudAI One</cp:lastModifiedBy>
  <dcterms:modified xsi:type="dcterms:W3CDTF">2026-08-27T12:12:13Z</dcterms:modified>
  <cp:revision>1</cp:revision>
  <dc:subject>StudAI Foundry Season 2 - Official Project Pitch Template</dc:subject>
  <dc:title>StudAI Foundry Season 2 - Official Project Pitch Template - Chennai Edition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8</vt:r8>
  </property>
  <property fmtid="{D5CDD505-2E9C-101B-9397-08002B2CF9AE}" pid="3" name="PresentationFormat">
    <vt:lpwstr>On-screen Show (16:9)</vt:lpwstr>
  </property>
  <property fmtid="{D5CDD505-2E9C-101B-9397-08002B2CF9AE}" pid="4" name="Slides">
    <vt:r8>8</vt:r8>
  </property>
</Properties>
</file>